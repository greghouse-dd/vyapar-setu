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2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89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89" y="0"/>
                </a:lnTo>
                <a:lnTo>
                  <a:pt x="18287589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1246" y="-54041"/>
            <a:ext cx="12130405" cy="1724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526186"/>
            <a:ext cx="10951210" cy="7146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651948" y="9657783"/>
            <a:ext cx="3446779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08251" y="9657783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mdoner.gov.in/" TargetMode="External"/><Relationship Id="rId5" Type="http://schemas.openxmlformats.org/officeDocument/2006/relationships/hyperlink" Target="https://huggingface.co/docs/transformers/index" TargetMode="External"/><Relationship Id="rId6" Type="http://schemas.openxmlformats.org/officeDocument/2006/relationships/hyperlink" Target="https://huggingface.co/docs/peft/index" TargetMode="External"/><Relationship Id="rId7" Type="http://schemas.openxmlformats.org/officeDocument/2006/relationships/hyperlink" Target="https://pypi.org/project/pdfplumber/" TargetMode="External"/><Relationship Id="rId8" Type="http://schemas.openxmlformats.org/officeDocument/2006/relationships/hyperlink" Target="https://www.llama.com/docs/overview/" TargetMode="External"/><Relationship Id="rId9" Type="http://schemas.openxmlformats.org/officeDocument/2006/relationships/hyperlink" Target="https://github.com/vllm-project/vllm" TargetMode="External"/><Relationship Id="rId10" Type="http://schemas.openxmlformats.org/officeDocument/2006/relationships/hyperlink" Target="https://arxiv.org/abs/2004.05150" TargetMode="External"/><Relationship Id="rId11" Type="http://schemas.openxmlformats.org/officeDocument/2006/relationships/hyperlink" Target="https://www.govai.org/reports/explainable-ai-public-sector" TargetMode="External"/><Relationship Id="rId12" Type="http://schemas.openxmlformats.org/officeDocument/2006/relationships/hyperlink" Target="https://ieeexplore.ieee.org/stamp/stamp.jsp?arnumber=10818625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295" y="1961616"/>
            <a:ext cx="17320260" cy="7932420"/>
            <a:chOff x="582295" y="1961616"/>
            <a:chExt cx="17320260" cy="7932420"/>
          </a:xfrm>
        </p:grpSpPr>
        <p:sp>
          <p:nvSpPr>
            <p:cNvPr id="3" name="object 3"/>
            <p:cNvSpPr/>
            <p:nvPr/>
          </p:nvSpPr>
          <p:spPr>
            <a:xfrm>
              <a:off x="620395" y="2354046"/>
              <a:ext cx="11511280" cy="7501890"/>
            </a:xfrm>
            <a:custGeom>
              <a:avLst/>
              <a:gdLst/>
              <a:ahLst/>
              <a:cxnLst/>
              <a:rect l="l" t="t" r="r" b="b"/>
              <a:pathLst>
                <a:path w="11511280" h="7501890">
                  <a:moveTo>
                    <a:pt x="638165" y="0"/>
                  </a:moveTo>
                  <a:lnTo>
                    <a:pt x="10872804" y="0"/>
                  </a:lnTo>
                  <a:lnTo>
                    <a:pt x="10923336" y="2002"/>
                  </a:lnTo>
                  <a:lnTo>
                    <a:pt x="10973238" y="7949"/>
                  </a:lnTo>
                  <a:lnTo>
                    <a:pt x="11022295" y="17753"/>
                  </a:lnTo>
                  <a:lnTo>
                    <a:pt x="11070294" y="31325"/>
                  </a:lnTo>
                  <a:lnTo>
                    <a:pt x="11117019" y="48577"/>
                  </a:lnTo>
                  <a:lnTo>
                    <a:pt x="11162258" y="69418"/>
                  </a:lnTo>
                  <a:lnTo>
                    <a:pt x="11205795" y="93762"/>
                  </a:lnTo>
                  <a:lnTo>
                    <a:pt x="11247417" y="121518"/>
                  </a:lnTo>
                  <a:lnTo>
                    <a:pt x="11286908" y="152598"/>
                  </a:lnTo>
                  <a:lnTo>
                    <a:pt x="11324055" y="186914"/>
                  </a:lnTo>
                  <a:lnTo>
                    <a:pt x="11358371" y="224061"/>
                  </a:lnTo>
                  <a:lnTo>
                    <a:pt x="11389451" y="263552"/>
                  </a:lnTo>
                  <a:lnTo>
                    <a:pt x="11417207" y="305174"/>
                  </a:lnTo>
                  <a:lnTo>
                    <a:pt x="11441550" y="348711"/>
                  </a:lnTo>
                  <a:lnTo>
                    <a:pt x="11462392" y="393949"/>
                  </a:lnTo>
                  <a:lnTo>
                    <a:pt x="11479643" y="440675"/>
                  </a:lnTo>
                  <a:lnTo>
                    <a:pt x="11493215" y="488673"/>
                  </a:lnTo>
                  <a:lnTo>
                    <a:pt x="11503020" y="537731"/>
                  </a:lnTo>
                  <a:lnTo>
                    <a:pt x="11508967" y="587633"/>
                  </a:lnTo>
                  <a:lnTo>
                    <a:pt x="11510969" y="638165"/>
                  </a:lnTo>
                  <a:lnTo>
                    <a:pt x="11510969" y="6863663"/>
                  </a:lnTo>
                  <a:lnTo>
                    <a:pt x="11508967" y="6914195"/>
                  </a:lnTo>
                  <a:lnTo>
                    <a:pt x="11503020" y="6964097"/>
                  </a:lnTo>
                  <a:lnTo>
                    <a:pt x="11493216" y="7013155"/>
                  </a:lnTo>
                  <a:lnTo>
                    <a:pt x="11479644" y="7061153"/>
                  </a:lnTo>
                  <a:lnTo>
                    <a:pt x="11462392" y="7107879"/>
                  </a:lnTo>
                  <a:lnTo>
                    <a:pt x="11441551" y="7153118"/>
                  </a:lnTo>
                  <a:lnTo>
                    <a:pt x="11417208" y="7196655"/>
                  </a:lnTo>
                  <a:lnTo>
                    <a:pt x="11389452" y="7238276"/>
                  </a:lnTo>
                  <a:lnTo>
                    <a:pt x="11358371" y="7277768"/>
                  </a:lnTo>
                  <a:lnTo>
                    <a:pt x="11324056" y="7314915"/>
                  </a:lnTo>
                  <a:lnTo>
                    <a:pt x="11286908" y="7349231"/>
                  </a:lnTo>
                  <a:lnTo>
                    <a:pt x="11247417" y="7380311"/>
                  </a:lnTo>
                  <a:lnTo>
                    <a:pt x="11205795" y="7408067"/>
                  </a:lnTo>
                  <a:lnTo>
                    <a:pt x="11162258" y="7432411"/>
                  </a:lnTo>
                  <a:lnTo>
                    <a:pt x="11117020" y="7453252"/>
                  </a:lnTo>
                  <a:lnTo>
                    <a:pt x="11070294" y="7470503"/>
                  </a:lnTo>
                  <a:lnTo>
                    <a:pt x="11022295" y="7484075"/>
                  </a:lnTo>
                  <a:lnTo>
                    <a:pt x="10973238" y="7493879"/>
                  </a:lnTo>
                  <a:lnTo>
                    <a:pt x="10923336" y="7499827"/>
                  </a:lnTo>
                  <a:lnTo>
                    <a:pt x="10872804" y="7501829"/>
                  </a:lnTo>
                  <a:lnTo>
                    <a:pt x="638165" y="7501829"/>
                  </a:lnTo>
                  <a:lnTo>
                    <a:pt x="587633" y="7499827"/>
                  </a:lnTo>
                  <a:lnTo>
                    <a:pt x="537731" y="7493879"/>
                  </a:lnTo>
                  <a:lnTo>
                    <a:pt x="488674" y="7484075"/>
                  </a:lnTo>
                  <a:lnTo>
                    <a:pt x="440675" y="7470503"/>
                  </a:lnTo>
                  <a:lnTo>
                    <a:pt x="393949" y="7453252"/>
                  </a:lnTo>
                  <a:lnTo>
                    <a:pt x="348711" y="7432410"/>
                  </a:lnTo>
                  <a:lnTo>
                    <a:pt x="305174" y="7408067"/>
                  </a:lnTo>
                  <a:lnTo>
                    <a:pt x="263552" y="7380311"/>
                  </a:lnTo>
                  <a:lnTo>
                    <a:pt x="224061" y="7349231"/>
                  </a:lnTo>
                  <a:lnTo>
                    <a:pt x="186913" y="7314915"/>
                  </a:lnTo>
                  <a:lnTo>
                    <a:pt x="152598" y="7277768"/>
                  </a:lnTo>
                  <a:lnTo>
                    <a:pt x="121518" y="7238276"/>
                  </a:lnTo>
                  <a:lnTo>
                    <a:pt x="93761" y="7196655"/>
                  </a:lnTo>
                  <a:lnTo>
                    <a:pt x="69418" y="7153117"/>
                  </a:lnTo>
                  <a:lnTo>
                    <a:pt x="48577" y="7107879"/>
                  </a:lnTo>
                  <a:lnTo>
                    <a:pt x="31325" y="7061153"/>
                  </a:lnTo>
                  <a:lnTo>
                    <a:pt x="17753" y="7013154"/>
                  </a:lnTo>
                  <a:lnTo>
                    <a:pt x="7949" y="6964097"/>
                  </a:lnTo>
                  <a:lnTo>
                    <a:pt x="2002" y="6914195"/>
                  </a:lnTo>
                  <a:lnTo>
                    <a:pt x="0" y="6863663"/>
                  </a:lnTo>
                  <a:lnTo>
                    <a:pt x="0" y="638165"/>
                  </a:lnTo>
                  <a:lnTo>
                    <a:pt x="2002" y="587633"/>
                  </a:lnTo>
                  <a:lnTo>
                    <a:pt x="7949" y="537731"/>
                  </a:lnTo>
                  <a:lnTo>
                    <a:pt x="17754" y="488674"/>
                  </a:lnTo>
                  <a:lnTo>
                    <a:pt x="31326" y="440675"/>
                  </a:lnTo>
                  <a:lnTo>
                    <a:pt x="48577" y="393949"/>
                  </a:lnTo>
                  <a:lnTo>
                    <a:pt x="69419" y="348711"/>
                  </a:lnTo>
                  <a:lnTo>
                    <a:pt x="93762" y="305174"/>
                  </a:lnTo>
                  <a:lnTo>
                    <a:pt x="121518" y="263552"/>
                  </a:lnTo>
                  <a:lnTo>
                    <a:pt x="152598" y="224061"/>
                  </a:lnTo>
                  <a:lnTo>
                    <a:pt x="186914" y="186914"/>
                  </a:lnTo>
                  <a:lnTo>
                    <a:pt x="224061" y="152598"/>
                  </a:lnTo>
                  <a:lnTo>
                    <a:pt x="263552" y="121518"/>
                  </a:lnTo>
                  <a:lnTo>
                    <a:pt x="305174" y="93762"/>
                  </a:lnTo>
                  <a:lnTo>
                    <a:pt x="348711" y="69419"/>
                  </a:lnTo>
                  <a:lnTo>
                    <a:pt x="393949" y="48577"/>
                  </a:lnTo>
                  <a:lnTo>
                    <a:pt x="440675" y="31326"/>
                  </a:lnTo>
                  <a:lnTo>
                    <a:pt x="488674" y="17754"/>
                  </a:lnTo>
                  <a:lnTo>
                    <a:pt x="537731" y="7949"/>
                  </a:lnTo>
                  <a:lnTo>
                    <a:pt x="587633" y="2002"/>
                  </a:lnTo>
                  <a:lnTo>
                    <a:pt x="638165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49145" y="1961616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46259" y="3258156"/>
              <a:ext cx="4805263" cy="513830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6000" spc="-125">
                <a:solidFill>
                  <a:srgbClr val="1F497D"/>
                </a:solidFill>
              </a:rPr>
              <a:t>SMART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 spc="140">
                <a:solidFill>
                  <a:srgbClr val="1F497D"/>
                </a:solidFill>
              </a:rPr>
              <a:t>INDIA</a:t>
            </a:r>
            <a:r>
              <a:rPr dirty="0" sz="6000" spc="-80">
                <a:solidFill>
                  <a:srgbClr val="1F497D"/>
                </a:solidFill>
              </a:rPr>
              <a:t> </a:t>
            </a:r>
            <a:r>
              <a:rPr dirty="0" sz="6000">
                <a:solidFill>
                  <a:srgbClr val="1F497D"/>
                </a:solidFill>
              </a:rPr>
              <a:t>HACKATHON</a:t>
            </a:r>
            <a:r>
              <a:rPr dirty="0" sz="6000" spc="-75">
                <a:solidFill>
                  <a:srgbClr val="1F497D"/>
                </a:solidFill>
              </a:rPr>
              <a:t> </a:t>
            </a:r>
            <a:r>
              <a:rPr dirty="0" sz="6000" spc="-90">
                <a:solidFill>
                  <a:srgbClr val="1F497D"/>
                </a:solidFill>
              </a:rPr>
              <a:t>2025</a:t>
            </a:r>
            <a:endParaRPr sz="6000"/>
          </a:p>
          <a:p>
            <a:pPr algn="ctr" marR="909955">
              <a:lnSpc>
                <a:spcPct val="100000"/>
              </a:lnSpc>
              <a:spcBef>
                <a:spcPts val="705"/>
              </a:spcBef>
            </a:pPr>
            <a:r>
              <a:rPr dirty="0" sz="3650"/>
              <a:t>TITLE</a:t>
            </a:r>
            <a:r>
              <a:rPr dirty="0" sz="3650" spc="-10"/>
              <a:t> </a:t>
            </a:r>
            <a:r>
              <a:rPr dirty="0" sz="3650" spc="35"/>
              <a:t>PAGE</a:t>
            </a:r>
            <a:endParaRPr sz="365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 Statement ID – </a:t>
            </a:r>
            <a:r>
              <a:rPr dirty="0" spc="-10"/>
              <a:t>SIH25185</a:t>
            </a:r>
          </a:p>
          <a:p>
            <a:pPr marL="12700" marR="5080">
              <a:lnSpc>
                <a:spcPts val="8620"/>
              </a:lnSpc>
              <a:spcBef>
                <a:spcPts val="1010"/>
              </a:spcBef>
            </a:pPr>
            <a:r>
              <a:rPr dirty="0"/>
              <a:t>Problem</a:t>
            </a:r>
            <a:r>
              <a:rPr dirty="0" spc="-5"/>
              <a:t> </a:t>
            </a:r>
            <a:r>
              <a:rPr dirty="0"/>
              <a:t>Statement Title</a:t>
            </a:r>
            <a:r>
              <a:rPr dirty="0" spc="-5"/>
              <a:t> </a:t>
            </a:r>
            <a:r>
              <a:rPr dirty="0"/>
              <a:t>- </a:t>
            </a:r>
            <a:r>
              <a:rPr dirty="0" b="0">
                <a:latin typeface="Arial MT"/>
                <a:cs typeface="Arial MT"/>
              </a:rPr>
              <a:t>Al-Powered DPR</a:t>
            </a:r>
            <a:r>
              <a:rPr dirty="0" spc="-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Quality </a:t>
            </a:r>
            <a:r>
              <a:rPr dirty="0" b="0">
                <a:latin typeface="Arial MT"/>
                <a:cs typeface="Arial MT"/>
              </a:rPr>
              <a:t>Assessment and Risk Prediction System for </a:t>
            </a:r>
            <a:r>
              <a:rPr dirty="0" spc="-10" b="0">
                <a:latin typeface="Arial MT"/>
                <a:cs typeface="Arial MT"/>
              </a:rPr>
              <a:t>MDoNER </a:t>
            </a:r>
            <a:r>
              <a:rPr dirty="0"/>
              <a:t>Theme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 b="0">
                <a:latin typeface="Arial MT"/>
                <a:cs typeface="Arial MT"/>
              </a:rPr>
              <a:t>Smart</a:t>
            </a:r>
            <a:r>
              <a:rPr dirty="0" spc="-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Automation</a:t>
            </a:r>
          </a:p>
          <a:p>
            <a:pPr marL="12700">
              <a:lnSpc>
                <a:spcPct val="100000"/>
              </a:lnSpc>
              <a:spcBef>
                <a:spcPts val="3310"/>
              </a:spcBef>
            </a:pPr>
            <a:r>
              <a:rPr dirty="0"/>
              <a:t>PS</a:t>
            </a:r>
            <a:r>
              <a:rPr dirty="0" spc="-5"/>
              <a:t> </a:t>
            </a:r>
            <a:r>
              <a:rPr dirty="0"/>
              <a:t>Category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 spc="-10" b="0">
                <a:latin typeface="Arial MT"/>
                <a:cs typeface="Arial MT"/>
              </a:rPr>
              <a:t>Software</a:t>
            </a:r>
          </a:p>
          <a:p>
            <a:pPr>
              <a:lnSpc>
                <a:spcPct val="100000"/>
              </a:lnSpc>
              <a:spcBef>
                <a:spcPts val="16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dirty="0" spc="-5"/>
              <a:t> </a:t>
            </a:r>
            <a:r>
              <a:rPr dirty="0"/>
              <a:t>ID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5"/>
              <a:t> </a:t>
            </a:r>
            <a:r>
              <a:rPr dirty="0" spc="-10"/>
              <a:t>107181</a:t>
            </a:r>
          </a:p>
          <a:p>
            <a:pPr>
              <a:lnSpc>
                <a:spcPct val="100000"/>
              </a:lnSpc>
              <a:spcBef>
                <a:spcPts val="165"/>
              </a:spcBef>
            </a:pPr>
          </a:p>
          <a:p>
            <a:pPr marL="12700">
              <a:lnSpc>
                <a:spcPct val="100000"/>
              </a:lnSpc>
              <a:tabLst>
                <a:tab pos="3493770" algn="l"/>
                <a:tab pos="5577840" algn="l"/>
              </a:tabLst>
            </a:pPr>
            <a:r>
              <a:rPr dirty="0"/>
              <a:t>Team Name - </a:t>
            </a:r>
            <a:r>
              <a:rPr dirty="0" u="heavy" b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pc="-10" b="0">
                <a:latin typeface="Arial MT"/>
                <a:cs typeface="Arial MT"/>
              </a:rPr>
              <a:t>NEXUS</a:t>
            </a:r>
            <a:r>
              <a:rPr dirty="0" u="heavy" b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pc="-10" b="0">
                <a:latin typeface="Arial MT"/>
                <a:cs typeface="Arial MT"/>
              </a:rPr>
              <a:t>IIITB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2049" y="9445"/>
            <a:ext cx="3313652" cy="16843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9642" y="1660663"/>
            <a:ext cx="1296616" cy="138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1706" y="1146295"/>
            <a:ext cx="403415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dirty="0" spc="170"/>
              <a:t> </a:t>
            </a:r>
            <a:r>
              <a:rPr dirty="0" spc="-10"/>
              <a:t>TITLE</a:t>
            </a:r>
          </a:p>
        </p:txBody>
      </p:sp>
      <p:sp>
        <p:nvSpPr>
          <p:cNvPr id="3" name="object 3"/>
          <p:cNvSpPr/>
          <p:nvPr/>
        </p:nvSpPr>
        <p:spPr>
          <a:xfrm>
            <a:off x="12004092" y="5495073"/>
            <a:ext cx="5904230" cy="3743325"/>
          </a:xfrm>
          <a:custGeom>
            <a:avLst/>
            <a:gdLst/>
            <a:ahLst/>
            <a:cxnLst/>
            <a:rect l="l" t="t" r="r" b="b"/>
            <a:pathLst>
              <a:path w="5904230" h="3743325">
                <a:moveTo>
                  <a:pt x="68730" y="3743325"/>
                </a:moveTo>
                <a:lnTo>
                  <a:pt x="22370" y="3721751"/>
                </a:lnTo>
                <a:lnTo>
                  <a:pt x="1530" y="3682806"/>
                </a:lnTo>
                <a:lnTo>
                  <a:pt x="0" y="3667871"/>
                </a:lnTo>
                <a:lnTo>
                  <a:pt x="0" y="76192"/>
                </a:lnTo>
                <a:lnTo>
                  <a:pt x="12854" y="33922"/>
                </a:lnTo>
                <a:lnTo>
                  <a:pt x="47091" y="5800"/>
                </a:lnTo>
                <a:lnTo>
                  <a:pt x="76250" y="0"/>
                </a:lnTo>
                <a:lnTo>
                  <a:pt x="5827611" y="0"/>
                </a:lnTo>
                <a:lnTo>
                  <a:pt x="5869886" y="12802"/>
                </a:lnTo>
                <a:lnTo>
                  <a:pt x="5898009" y="47038"/>
                </a:lnTo>
                <a:lnTo>
                  <a:pt x="5903809" y="3667871"/>
                </a:lnTo>
                <a:lnTo>
                  <a:pt x="5902331" y="3682806"/>
                </a:lnTo>
                <a:lnTo>
                  <a:pt x="5881491" y="3721750"/>
                </a:lnTo>
                <a:lnTo>
                  <a:pt x="5842546" y="3742591"/>
                </a:lnTo>
                <a:lnTo>
                  <a:pt x="5835131" y="3743325"/>
                </a:lnTo>
              </a:path>
            </a:pathLst>
          </a:custGeom>
          <a:ln w="76200">
            <a:solidFill>
              <a:srgbClr val="006FB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8942" y="1906869"/>
            <a:ext cx="11369675" cy="7332345"/>
          </a:xfrm>
          <a:custGeom>
            <a:avLst/>
            <a:gdLst/>
            <a:ahLst/>
            <a:cxnLst/>
            <a:rect l="l" t="t" r="r" b="b"/>
            <a:pathLst>
              <a:path w="11369675" h="7332345">
                <a:moveTo>
                  <a:pt x="76199" y="0"/>
                </a:moveTo>
                <a:lnTo>
                  <a:pt x="11293062" y="0"/>
                </a:lnTo>
                <a:lnTo>
                  <a:pt x="11307997" y="1477"/>
                </a:lnTo>
                <a:lnTo>
                  <a:pt x="11346943" y="22318"/>
                </a:lnTo>
                <a:lnTo>
                  <a:pt x="11367783" y="61264"/>
                </a:lnTo>
                <a:lnTo>
                  <a:pt x="11369261" y="7256114"/>
                </a:lnTo>
                <a:lnTo>
                  <a:pt x="11367783" y="7271049"/>
                </a:lnTo>
                <a:lnTo>
                  <a:pt x="11346943" y="7309996"/>
                </a:lnTo>
                <a:lnTo>
                  <a:pt x="11307997" y="7330837"/>
                </a:lnTo>
                <a:lnTo>
                  <a:pt x="11293062" y="7332314"/>
                </a:lnTo>
                <a:lnTo>
                  <a:pt x="76199" y="7332314"/>
                </a:lnTo>
                <a:lnTo>
                  <a:pt x="33923" y="7319511"/>
                </a:lnTo>
                <a:lnTo>
                  <a:pt x="5800" y="7285274"/>
                </a:lnTo>
                <a:lnTo>
                  <a:pt x="0" y="7256114"/>
                </a:lnTo>
                <a:lnTo>
                  <a:pt x="0" y="76199"/>
                </a:lnTo>
                <a:lnTo>
                  <a:pt x="12802" y="33923"/>
                </a:lnTo>
                <a:lnTo>
                  <a:pt x="47039" y="5800"/>
                </a:lnTo>
                <a:lnTo>
                  <a:pt x="76199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17641" y="1906869"/>
            <a:ext cx="6158230" cy="3293110"/>
          </a:xfrm>
          <a:custGeom>
            <a:avLst/>
            <a:gdLst/>
            <a:ahLst/>
            <a:cxnLst/>
            <a:rect l="l" t="t" r="r" b="b"/>
            <a:pathLst>
              <a:path w="6158230" h="3293110">
                <a:moveTo>
                  <a:pt x="76197" y="0"/>
                </a:moveTo>
                <a:lnTo>
                  <a:pt x="6081747" y="0"/>
                </a:lnTo>
                <a:lnTo>
                  <a:pt x="6096681" y="1477"/>
                </a:lnTo>
                <a:lnTo>
                  <a:pt x="6135626" y="22317"/>
                </a:lnTo>
                <a:lnTo>
                  <a:pt x="6156467" y="61262"/>
                </a:lnTo>
                <a:lnTo>
                  <a:pt x="6157944" y="3216624"/>
                </a:lnTo>
                <a:lnTo>
                  <a:pt x="6156467" y="3231559"/>
                </a:lnTo>
                <a:lnTo>
                  <a:pt x="6135626" y="3270504"/>
                </a:lnTo>
                <a:lnTo>
                  <a:pt x="6096681" y="3291344"/>
                </a:lnTo>
                <a:lnTo>
                  <a:pt x="6081747" y="3292822"/>
                </a:lnTo>
                <a:lnTo>
                  <a:pt x="76197" y="3292822"/>
                </a:lnTo>
                <a:lnTo>
                  <a:pt x="33922" y="3280019"/>
                </a:lnTo>
                <a:lnTo>
                  <a:pt x="5800" y="3245783"/>
                </a:lnTo>
                <a:lnTo>
                  <a:pt x="0" y="3216624"/>
                </a:lnTo>
                <a:lnTo>
                  <a:pt x="0" y="76197"/>
                </a:lnTo>
                <a:lnTo>
                  <a:pt x="12801" y="33923"/>
                </a:lnTo>
                <a:lnTo>
                  <a:pt x="47037" y="5800"/>
                </a:lnTo>
                <a:lnTo>
                  <a:pt x="76197" y="0"/>
                </a:lnTo>
              </a:path>
            </a:pathLst>
          </a:custGeom>
          <a:ln w="76199">
            <a:solidFill>
              <a:srgbClr val="006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845324" y="1907915"/>
            <a:ext cx="3954779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PROBLEM</a:t>
            </a:r>
            <a:r>
              <a:rPr dirty="0" sz="3200" spc="-13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612779" y="1955540"/>
            <a:ext cx="11006455" cy="5975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42595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IDEA/SOLUTION</a:t>
            </a:r>
            <a:endParaRPr sz="3200">
              <a:latin typeface="Calibri"/>
              <a:cs typeface="Calibri"/>
            </a:endParaRPr>
          </a:p>
          <a:p>
            <a:pPr algn="ctr" marL="12700" marR="154940">
              <a:lnSpc>
                <a:spcPts val="3220"/>
              </a:lnSpc>
              <a:spcBef>
                <a:spcPts val="155"/>
              </a:spcBef>
            </a:pPr>
            <a:r>
              <a:rPr dirty="0" sz="2700">
                <a:latin typeface="Calibri"/>
                <a:cs typeface="Calibri"/>
              </a:rPr>
              <a:t>The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aim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of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this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idea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process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large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DPRs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using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hybrid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pipeline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that </a:t>
            </a:r>
            <a:r>
              <a:rPr dirty="0" sz="2700">
                <a:latin typeface="Calibri"/>
                <a:cs typeface="Calibri"/>
              </a:rPr>
              <a:t>combines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text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extraction</a:t>
            </a:r>
            <a:r>
              <a:rPr dirty="0" sz="2700" spc="-10">
                <a:latin typeface="Calibri"/>
                <a:cs typeface="Calibri"/>
              </a:rPr>
              <a:t>,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localized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summarization</a:t>
            </a:r>
            <a:r>
              <a:rPr dirty="0" sz="2700" spc="-10">
                <a:latin typeface="Calibri"/>
                <a:cs typeface="Calibri"/>
              </a:rPr>
              <a:t>,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b="1">
                <a:solidFill>
                  <a:srgbClr val="BF0000"/>
                </a:solidFill>
                <a:latin typeface="Calibri"/>
                <a:cs typeface="Calibri"/>
              </a:rPr>
              <a:t>domain-specific</a:t>
            </a:r>
            <a:r>
              <a:rPr dirty="0" sz="2700" spc="-6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700" spc="-25" b="1">
                <a:latin typeface="Calibri"/>
                <a:cs typeface="Calibri"/>
              </a:rPr>
              <a:t>AI-</a:t>
            </a:r>
            <a:r>
              <a:rPr dirty="0" sz="2700" b="1">
                <a:latin typeface="Calibri"/>
                <a:cs typeface="Calibri"/>
              </a:rPr>
              <a:t>trained</a:t>
            </a:r>
            <a:r>
              <a:rPr dirty="0" sz="2700" spc="-5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LLM</a:t>
            </a:r>
            <a:r>
              <a:rPr dirty="0" sz="2700" spc="-50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to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generate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risk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analysis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actionable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insights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effective</a:t>
            </a:r>
            <a:r>
              <a:rPr dirty="0" sz="2700" spc="-50">
                <a:latin typeface="Calibri"/>
                <a:cs typeface="Calibri"/>
              </a:rPr>
              <a:t> </a:t>
            </a:r>
            <a:r>
              <a:rPr dirty="0" sz="2700" spc="-25">
                <a:latin typeface="Calibri"/>
                <a:cs typeface="Calibri"/>
              </a:rPr>
              <a:t>DPR </a:t>
            </a:r>
            <a:r>
              <a:rPr dirty="0" sz="2700" spc="-10">
                <a:latin typeface="Calibri"/>
                <a:cs typeface="Calibri"/>
              </a:rPr>
              <a:t>assessment.</a:t>
            </a:r>
            <a:endParaRPr sz="2700">
              <a:latin typeface="Calibri"/>
              <a:cs typeface="Calibri"/>
            </a:endParaRPr>
          </a:p>
          <a:p>
            <a:pPr marL="41910">
              <a:lnSpc>
                <a:spcPts val="2870"/>
              </a:lnSpc>
            </a:pPr>
            <a:r>
              <a:rPr dirty="0" sz="2500" spc="-40" b="1">
                <a:latin typeface="Calibri"/>
                <a:cs typeface="Calibri"/>
              </a:rPr>
              <a:t>IMPLEMENTATION</a:t>
            </a:r>
            <a:r>
              <a:rPr dirty="0" sz="2500" spc="-20" b="1">
                <a:latin typeface="Calibri"/>
                <a:cs typeface="Calibri"/>
              </a:rPr>
              <a:t> </a:t>
            </a:r>
            <a:r>
              <a:rPr dirty="0" sz="2500" b="1">
                <a:latin typeface="Calibri"/>
                <a:cs typeface="Calibri"/>
              </a:rPr>
              <a:t>AND</a:t>
            </a:r>
            <a:r>
              <a:rPr dirty="0" sz="2500" spc="-15" b="1">
                <a:latin typeface="Calibri"/>
                <a:cs typeface="Calibri"/>
              </a:rPr>
              <a:t> </a:t>
            </a:r>
            <a:r>
              <a:rPr dirty="0" sz="2500" spc="-10" b="1">
                <a:latin typeface="Calibri"/>
                <a:cs typeface="Calibri"/>
              </a:rPr>
              <a:t>FEATURES</a:t>
            </a:r>
            <a:endParaRPr sz="2500">
              <a:latin typeface="Calibri"/>
              <a:cs typeface="Calibri"/>
            </a:endParaRPr>
          </a:p>
          <a:p>
            <a:pPr algn="just" marL="521970" marR="5080" indent="-240665">
              <a:lnSpc>
                <a:spcPct val="110800"/>
              </a:lnSpc>
              <a:spcBef>
                <a:spcPts val="775"/>
              </a:spcBef>
              <a:buFont typeface="Calibri"/>
              <a:buAutoNum type="arabicPeriod"/>
              <a:tabLst>
                <a:tab pos="521970" algn="l"/>
              </a:tabLst>
            </a:pPr>
            <a:r>
              <a:rPr dirty="0" sz="2200" spc="-10" b="1">
                <a:latin typeface="Calibri"/>
                <a:cs typeface="Calibri"/>
              </a:rPr>
              <a:t>End-</a:t>
            </a:r>
            <a:r>
              <a:rPr dirty="0" sz="2200" spc="-25" b="1">
                <a:latin typeface="Calibri"/>
                <a:cs typeface="Calibri"/>
              </a:rPr>
              <a:t>to-</a:t>
            </a:r>
            <a:r>
              <a:rPr dirty="0" sz="2200" b="1">
                <a:latin typeface="Calibri"/>
                <a:cs typeface="Calibri"/>
              </a:rPr>
              <a:t>end</a:t>
            </a:r>
            <a:r>
              <a:rPr dirty="0" sz="2200" spc="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automated</a:t>
            </a:r>
            <a:r>
              <a:rPr dirty="0" sz="2200" spc="5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pipelining: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Includes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aforementioned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functionalities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displays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analysis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interactive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charts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dashboards.</a:t>
            </a:r>
            <a:endParaRPr sz="2200">
              <a:latin typeface="Calibri"/>
              <a:cs typeface="Calibri"/>
            </a:endParaRPr>
          </a:p>
          <a:p>
            <a:pPr algn="just" marL="521970" marR="5080" indent="-240665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dirty="0" sz="2200" spc="-35" b="1">
                <a:latin typeface="Calibri"/>
                <a:cs typeface="Calibri"/>
              </a:rPr>
              <a:t>Two-</a:t>
            </a:r>
            <a:r>
              <a:rPr dirty="0" sz="2200" b="1">
                <a:latin typeface="Calibri"/>
                <a:cs typeface="Calibri"/>
              </a:rPr>
              <a:t>tier</a:t>
            </a:r>
            <a:r>
              <a:rPr dirty="0" sz="2200" spc="11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LLM</a:t>
            </a:r>
            <a:r>
              <a:rPr dirty="0" sz="2200" spc="114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framework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Breaks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down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large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DPRs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into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processable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summaries,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processed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second-</a:t>
            </a:r>
            <a:r>
              <a:rPr dirty="0" sz="2200" b="1">
                <a:latin typeface="Calibri"/>
                <a:cs typeface="Calibri"/>
              </a:rPr>
              <a:t>level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fine-</a:t>
            </a:r>
            <a:r>
              <a:rPr dirty="0" sz="2200" b="1">
                <a:latin typeface="Calibri"/>
                <a:cs typeface="Calibri"/>
              </a:rPr>
              <a:t>tuned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LLM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final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output.</a:t>
            </a:r>
            <a:endParaRPr sz="2200">
              <a:latin typeface="Calibri"/>
              <a:cs typeface="Calibri"/>
            </a:endParaRPr>
          </a:p>
          <a:p>
            <a:pPr algn="just" marL="521970" marR="5080" indent="-240665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dirty="0" sz="2200" spc="-30" b="1">
                <a:latin typeface="Calibri"/>
                <a:cs typeface="Calibri"/>
              </a:rPr>
              <a:t>Well-</a:t>
            </a:r>
            <a:r>
              <a:rPr dirty="0" sz="2200" b="1">
                <a:latin typeface="Calibri"/>
                <a:cs typeface="Calibri"/>
              </a:rPr>
              <a:t>structured</a:t>
            </a:r>
            <a:r>
              <a:rPr dirty="0" sz="2200" spc="4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output</a:t>
            </a:r>
            <a:r>
              <a:rPr dirty="0" sz="2200" spc="40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formatting</a:t>
            </a:r>
            <a:r>
              <a:rPr dirty="0" sz="2200">
                <a:latin typeface="Calibri"/>
                <a:cs typeface="Calibri"/>
              </a:rPr>
              <a:t>: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JSON</a:t>
            </a:r>
            <a:r>
              <a:rPr dirty="0" sz="2200" spc="4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files</a:t>
            </a:r>
            <a:r>
              <a:rPr dirty="0" sz="2200" spc="40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capture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project</a:t>
            </a:r>
            <a:r>
              <a:rPr dirty="0" sz="2200" spc="4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metadata,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timelines,</a:t>
            </a:r>
            <a:r>
              <a:rPr dirty="0" sz="2200" spc="405"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BF0000"/>
                </a:solidFill>
                <a:latin typeface="Calibri"/>
                <a:cs typeface="Calibri"/>
              </a:rPr>
              <a:t>risk </a:t>
            </a:r>
            <a:r>
              <a:rPr dirty="0" sz="2200" spc="-10" b="1">
                <a:solidFill>
                  <a:srgbClr val="BF0000"/>
                </a:solidFill>
                <a:latin typeface="Calibri"/>
                <a:cs typeface="Calibri"/>
              </a:rPr>
              <a:t>likelihood/impact</a:t>
            </a:r>
            <a:r>
              <a:rPr dirty="0" sz="2200" spc="-5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scores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DPR</a:t>
            </a:r>
            <a:r>
              <a:rPr dirty="0" sz="22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quality</a:t>
            </a:r>
            <a:r>
              <a:rPr dirty="0" sz="2200" spc="-4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card</a:t>
            </a:r>
            <a:r>
              <a:rPr dirty="0" sz="2200" spc="-5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verification.</a:t>
            </a:r>
            <a:endParaRPr sz="2200">
              <a:latin typeface="Calibri"/>
              <a:cs typeface="Calibri"/>
            </a:endParaRPr>
          </a:p>
          <a:p>
            <a:pPr algn="just" marL="521970" marR="5080" indent="-240665">
              <a:lnSpc>
                <a:spcPct val="110800"/>
              </a:lnSpc>
              <a:buFont typeface="Calibri"/>
              <a:buAutoNum type="arabicPeriod"/>
              <a:tabLst>
                <a:tab pos="521970" algn="l"/>
              </a:tabLst>
            </a:pPr>
            <a:r>
              <a:rPr dirty="0" sz="2200" b="1">
                <a:latin typeface="Calibri"/>
                <a:cs typeface="Calibri"/>
              </a:rPr>
              <a:t>Interactive</a:t>
            </a:r>
            <a:r>
              <a:rPr dirty="0" sz="2200" spc="85" b="1">
                <a:latin typeface="Calibri"/>
                <a:cs typeface="Calibri"/>
              </a:rPr>
              <a:t>  </a:t>
            </a:r>
            <a:r>
              <a:rPr dirty="0" sz="2200" b="1">
                <a:latin typeface="Calibri"/>
                <a:cs typeface="Calibri"/>
              </a:rPr>
              <a:t>Dashboard:</a:t>
            </a:r>
            <a:r>
              <a:rPr dirty="0" sz="2200" spc="90" b="1">
                <a:latin typeface="Calibri"/>
                <a:cs typeface="Calibri"/>
              </a:rPr>
              <a:t>  </a:t>
            </a:r>
            <a:r>
              <a:rPr dirty="0" sz="2200" spc="-25">
                <a:latin typeface="Calibri"/>
                <a:cs typeface="Calibri"/>
              </a:rPr>
              <a:t>Real-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8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PDF</a:t>
            </a:r>
            <a:r>
              <a:rPr dirty="0" sz="2200" spc="9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upload</a:t>
            </a:r>
            <a:r>
              <a:rPr dirty="0" sz="2200" spc="8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9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processing</a:t>
            </a:r>
            <a:r>
              <a:rPr dirty="0" sz="2200" spc="8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feedback</a:t>
            </a:r>
            <a:r>
              <a:rPr dirty="0" sz="2200" spc="9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85">
                <a:latin typeface="Calibri"/>
                <a:cs typeface="Calibri"/>
              </a:rPr>
              <a:t>  </a:t>
            </a:r>
            <a:r>
              <a:rPr dirty="0" sz="2200" spc="-10" b="1">
                <a:solidFill>
                  <a:srgbClr val="BF0000"/>
                </a:solidFill>
                <a:latin typeface="Calibri"/>
                <a:cs typeface="Calibri"/>
              </a:rPr>
              <a:t>progress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indicators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comprehensive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analysis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display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featuring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risk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scores,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cost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breakdowns,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timeline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evaluations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presented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through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clear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visualizations.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02826" y="5542762"/>
            <a:ext cx="5614670" cy="342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14045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latin typeface="Calibri"/>
                <a:cs typeface="Calibri"/>
              </a:rPr>
              <a:t>PROPOSITION</a:t>
            </a:r>
            <a:r>
              <a:rPr dirty="0" sz="3200" spc="-12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UNIQUENESS</a:t>
            </a:r>
            <a:endParaRPr sz="3200">
              <a:latin typeface="Calibri"/>
              <a:cs typeface="Calibri"/>
            </a:endParaRPr>
          </a:p>
          <a:p>
            <a:pPr algn="ctr" marL="12065" marR="5080">
              <a:lnSpc>
                <a:spcPts val="2850"/>
              </a:lnSpc>
              <a:spcBef>
                <a:spcPts val="229"/>
              </a:spcBef>
            </a:pPr>
            <a:r>
              <a:rPr dirty="0" sz="2400">
                <a:latin typeface="Calibri"/>
                <a:cs typeface="Calibri"/>
              </a:rPr>
              <a:t>Our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solution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multi-</a:t>
            </a:r>
            <a:r>
              <a:rPr dirty="0" sz="2400" b="1">
                <a:latin typeface="Calibri"/>
                <a:cs typeface="Calibri"/>
              </a:rPr>
              <a:t>layer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LLM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pipeline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condenses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lengthy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DPRs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into </a:t>
            </a:r>
            <a:r>
              <a:rPr dirty="0" sz="2400" spc="-10" b="1">
                <a:latin typeface="Calibri"/>
                <a:cs typeface="Calibri"/>
              </a:rPr>
              <a:t>structured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summaries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domain-</a:t>
            </a:r>
            <a:r>
              <a:rPr dirty="0" sz="2400" b="1">
                <a:latin typeface="Calibri"/>
                <a:cs typeface="Calibri"/>
              </a:rPr>
              <a:t>trained</a:t>
            </a:r>
            <a:r>
              <a:rPr dirty="0" sz="2400" spc="-10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layer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risk</a:t>
            </a:r>
            <a:r>
              <a:rPr dirty="0" sz="2400" spc="-10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checks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F0000"/>
                </a:solidFill>
                <a:latin typeface="Calibri"/>
                <a:cs typeface="Calibri"/>
              </a:rPr>
              <a:t>numeric validation</a:t>
            </a:r>
            <a:r>
              <a:rPr dirty="0" sz="2400" spc="-10">
                <a:latin typeface="Calibri"/>
                <a:cs typeface="Calibri"/>
              </a:rPr>
              <a:t>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F0000"/>
                </a:solidFill>
                <a:latin typeface="Calibri"/>
                <a:cs typeface="Calibri"/>
              </a:rPr>
              <a:t>timeline</a:t>
            </a:r>
            <a:r>
              <a:rPr dirty="0" sz="2400" spc="-4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BF0000"/>
                </a:solidFill>
                <a:latin typeface="Calibri"/>
                <a:cs typeface="Calibri"/>
              </a:rPr>
              <a:t>analysis</a:t>
            </a:r>
            <a:r>
              <a:rPr dirty="0" sz="2400" spc="-20">
                <a:latin typeface="Calibri"/>
                <a:cs typeface="Calibri"/>
              </a:rPr>
              <a:t>—</a:t>
            </a:r>
            <a:r>
              <a:rPr dirty="0" sz="2400" spc="-10">
                <a:latin typeface="Calibri"/>
                <a:cs typeface="Calibri"/>
              </a:rPr>
              <a:t>delivering </a:t>
            </a:r>
            <a:r>
              <a:rPr dirty="0" sz="2400">
                <a:latin typeface="Calibri"/>
                <a:cs typeface="Calibri"/>
              </a:rPr>
              <a:t>secure,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explainable,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actionable </a:t>
            </a:r>
            <a:r>
              <a:rPr dirty="0" sz="2400">
                <a:latin typeface="Calibri"/>
                <a:cs typeface="Calibri"/>
              </a:rPr>
              <a:t>assessments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tailored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reliable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MDoNER decision-making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483" y="7905039"/>
            <a:ext cx="10736580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2729" marR="5080" indent="-240665">
              <a:lnSpc>
                <a:spcPct val="110800"/>
              </a:lnSpc>
              <a:spcBef>
                <a:spcPts val="100"/>
              </a:spcBef>
            </a:pPr>
            <a:r>
              <a:rPr dirty="0" sz="2200" spc="-155">
                <a:latin typeface="Calibri"/>
                <a:cs typeface="Calibri"/>
              </a:rPr>
              <a:t>5.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Structured</a:t>
            </a:r>
            <a:r>
              <a:rPr dirty="0" sz="2200" spc="120" b="1">
                <a:latin typeface="Calibri"/>
                <a:cs typeface="Calibri"/>
              </a:rPr>
              <a:t>  </a:t>
            </a:r>
            <a:r>
              <a:rPr dirty="0" sz="2200" b="1">
                <a:latin typeface="Calibri"/>
                <a:cs typeface="Calibri"/>
              </a:rPr>
              <a:t>Output</a:t>
            </a:r>
            <a:r>
              <a:rPr dirty="0" sz="2200" spc="280" b="1">
                <a:latin typeface="Calibri"/>
                <a:cs typeface="Calibri"/>
              </a:rPr>
              <a:t>  </a:t>
            </a:r>
            <a:r>
              <a:rPr dirty="0" sz="2200" b="1">
                <a:latin typeface="Calibri"/>
                <a:cs typeface="Calibri"/>
              </a:rPr>
              <a:t>Generation:</a:t>
            </a:r>
            <a:r>
              <a:rPr dirty="0" sz="2200" spc="285" b="1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Automated</a:t>
            </a:r>
            <a:r>
              <a:rPr dirty="0" sz="2200" spc="2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generation</a:t>
            </a:r>
            <a:r>
              <a:rPr dirty="0" sz="2200" spc="2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2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structured</a:t>
            </a:r>
            <a:r>
              <a:rPr dirty="0" sz="2200" spc="28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JSON</a:t>
            </a:r>
            <a:r>
              <a:rPr dirty="0" sz="2200" spc="280">
                <a:latin typeface="Calibri"/>
                <a:cs typeface="Calibri"/>
              </a:rPr>
              <a:t>  </a:t>
            </a:r>
            <a:r>
              <a:rPr dirty="0" sz="2200" spc="-10">
                <a:latin typeface="Calibri"/>
                <a:cs typeface="Calibri"/>
              </a:rPr>
              <a:t>outputs </a:t>
            </a:r>
            <a:r>
              <a:rPr dirty="0" sz="2200">
                <a:latin typeface="Calibri"/>
                <a:cs typeface="Calibri"/>
              </a:rPr>
              <a:t>containing</a:t>
            </a:r>
            <a:r>
              <a:rPr dirty="0" sz="2200" spc="2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project</a:t>
            </a:r>
            <a:r>
              <a:rPr dirty="0" sz="2200" spc="2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enabling</a:t>
            </a:r>
            <a:r>
              <a:rPr dirty="0" sz="2200" spc="295"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seamless</a:t>
            </a:r>
            <a:r>
              <a:rPr dirty="0" sz="2200" spc="29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integration</a:t>
            </a:r>
            <a:r>
              <a:rPr dirty="0" sz="2200" spc="29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with</a:t>
            </a:r>
            <a:r>
              <a:rPr dirty="0" sz="2200" spc="29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existing</a:t>
            </a:r>
            <a:r>
              <a:rPr dirty="0" sz="2200" spc="29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government</a:t>
            </a:r>
            <a:r>
              <a:rPr dirty="0" sz="2200" spc="290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BF0000"/>
                </a:solidFill>
                <a:latin typeface="Calibri"/>
                <a:cs typeface="Calibri"/>
              </a:rPr>
              <a:t>systems</a:t>
            </a:r>
            <a:r>
              <a:rPr dirty="0" sz="2200" spc="295" b="1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 spc="-10">
                <a:latin typeface="Calibri"/>
                <a:cs typeface="Calibri"/>
              </a:rPr>
              <a:t>facilitating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data-</a:t>
            </a:r>
            <a:r>
              <a:rPr dirty="0" sz="2200">
                <a:latin typeface="Calibri"/>
                <a:cs typeface="Calibri"/>
              </a:rPr>
              <a:t>driven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decision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workflows.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6008" y="2358269"/>
            <a:ext cx="5721985" cy="974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 b="1">
                <a:latin typeface="Calibri"/>
                <a:cs typeface="Calibri"/>
              </a:rPr>
              <a:t>Problem</a:t>
            </a:r>
            <a:r>
              <a:rPr dirty="0" sz="2100">
                <a:latin typeface="Calibri"/>
                <a:cs typeface="Calibri"/>
              </a:rPr>
              <a:t>: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DPR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reviews</a:t>
            </a:r>
            <a:r>
              <a:rPr dirty="0" sz="2100" spc="-8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face</a:t>
            </a:r>
            <a:r>
              <a:rPr dirty="0" sz="2100" spc="-75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lengthy</a:t>
            </a:r>
            <a:r>
              <a:rPr dirty="0" sz="2100" spc="-80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documents</a:t>
            </a:r>
            <a:r>
              <a:rPr dirty="0" sz="2100" spc="-10">
                <a:latin typeface="Calibri"/>
                <a:cs typeface="Calibri"/>
              </a:rPr>
              <a:t>, </a:t>
            </a:r>
            <a:r>
              <a:rPr dirty="0" sz="2100" spc="-10" b="1">
                <a:latin typeface="Calibri"/>
                <a:cs typeface="Calibri"/>
              </a:rPr>
              <a:t>inconsistencies</a:t>
            </a:r>
            <a:r>
              <a:rPr dirty="0" sz="2100" spc="-10">
                <a:latin typeface="Calibri"/>
                <a:cs typeface="Calibri"/>
              </a:rPr>
              <a:t>,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hidden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risks</a:t>
            </a:r>
            <a:r>
              <a:rPr dirty="0" sz="2100">
                <a:latin typeface="Calibri"/>
                <a:cs typeface="Calibri"/>
              </a:rPr>
              <a:t>,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weak</a:t>
            </a:r>
            <a:r>
              <a:rPr dirty="0" sz="2100" spc="-60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auditability</a:t>
            </a:r>
            <a:r>
              <a:rPr dirty="0" sz="2100">
                <a:latin typeface="Calibri"/>
                <a:cs typeface="Calibri"/>
              </a:rPr>
              <a:t>,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25">
                <a:latin typeface="Calibri"/>
                <a:cs typeface="Calibri"/>
              </a:rPr>
              <a:t>and </a:t>
            </a:r>
            <a:r>
              <a:rPr dirty="0" sz="2100" b="1">
                <a:latin typeface="Calibri"/>
                <a:cs typeface="Calibri"/>
              </a:rPr>
              <a:t>sensitive</a:t>
            </a:r>
            <a:r>
              <a:rPr dirty="0" sz="2100" spc="-7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government</a:t>
            </a:r>
            <a:r>
              <a:rPr dirty="0" sz="2100" spc="-70" b="1">
                <a:latin typeface="Calibri"/>
                <a:cs typeface="Calibri"/>
              </a:rPr>
              <a:t> </a:t>
            </a:r>
            <a:r>
              <a:rPr dirty="0" sz="2100" spc="-20" b="1">
                <a:latin typeface="Calibri"/>
                <a:cs typeface="Calibri"/>
              </a:rPr>
              <a:t>data</a:t>
            </a:r>
            <a:r>
              <a:rPr dirty="0" sz="2100" spc="-20"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86008" y="3615568"/>
            <a:ext cx="5607050" cy="128841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 b="1">
                <a:latin typeface="Calibri"/>
                <a:cs typeface="Calibri"/>
              </a:rPr>
              <a:t>Solution</a:t>
            </a:r>
            <a:r>
              <a:rPr dirty="0" sz="2100">
                <a:latin typeface="Calibri"/>
                <a:cs typeface="Calibri"/>
              </a:rPr>
              <a:t>: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Our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system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provides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concise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summaries</a:t>
            </a:r>
            <a:r>
              <a:rPr dirty="0" sz="2100" spc="-10">
                <a:latin typeface="Calibri"/>
                <a:cs typeface="Calibri"/>
              </a:rPr>
              <a:t>, </a:t>
            </a:r>
            <a:r>
              <a:rPr dirty="0" sz="2100" spc="-10" b="1">
                <a:latin typeface="Calibri"/>
                <a:cs typeface="Calibri"/>
              </a:rPr>
              <a:t>automated</a:t>
            </a:r>
            <a:r>
              <a:rPr dirty="0" sz="2100" spc="-60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scoring</a:t>
            </a:r>
            <a:r>
              <a:rPr dirty="0" sz="2100">
                <a:latin typeface="Calibri"/>
                <a:cs typeface="Calibri"/>
              </a:rPr>
              <a:t>,</a:t>
            </a:r>
            <a:r>
              <a:rPr dirty="0" sz="2100" spc="-55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anomaly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validation</a:t>
            </a:r>
            <a:r>
              <a:rPr dirty="0" sz="2100" spc="-10">
                <a:latin typeface="Calibri"/>
                <a:cs typeface="Calibri"/>
              </a:rPr>
              <a:t>,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full </a:t>
            </a:r>
            <a:r>
              <a:rPr dirty="0" sz="2100" spc="-10">
                <a:latin typeface="Calibri"/>
                <a:cs typeface="Calibri"/>
              </a:rPr>
              <a:t>provenance,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-50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secure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on-</a:t>
            </a:r>
            <a:r>
              <a:rPr dirty="0" sz="2100" b="1">
                <a:latin typeface="Calibri"/>
                <a:cs typeface="Calibri"/>
              </a:rPr>
              <a:t>premise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AI</a:t>
            </a:r>
            <a:r>
              <a:rPr dirty="0" sz="2100" spc="-55" b="1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for</a:t>
            </a:r>
            <a:r>
              <a:rPr dirty="0" sz="2100" spc="-6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efficient, </a:t>
            </a:r>
            <a:r>
              <a:rPr dirty="0" sz="2100">
                <a:latin typeface="Calibri"/>
                <a:cs typeface="Calibri"/>
              </a:rPr>
              <a:t>auditable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DPR</a:t>
            </a:r>
            <a:r>
              <a:rPr dirty="0" sz="2100" spc="-6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assessment.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364" rIns="0" bIns="0" rtlCol="0" vert="horz">
            <a:spAutoFit/>
          </a:bodyPr>
          <a:lstStyle/>
          <a:p>
            <a:pPr marL="2050414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305"/>
              <a:t> </a:t>
            </a:r>
            <a:r>
              <a:rPr dirty="0" spc="95"/>
              <a:t>APPROACH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65"/>
              </a:lnSpc>
            </a:pPr>
            <a:r>
              <a:rPr dirty="0" sz="2700" spc="-25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dirty="0" sz="2700" spc="-20">
                <a:latin typeface="Calibri"/>
                <a:cs typeface="Calibri"/>
              </a:rPr>
              <a:t>Your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dirty="0" sz="2700" spc="-1250" b="1">
                <a:latin typeface="Calibri"/>
                <a:cs typeface="Calibri"/>
              </a:rPr>
              <a:t>N</a:t>
            </a:r>
            <a:r>
              <a:rPr dirty="0" baseline="2057" sz="4050" spc="-780">
                <a:latin typeface="Calibri"/>
                <a:cs typeface="Calibri"/>
              </a:rPr>
              <a:t>N</a:t>
            </a:r>
            <a:r>
              <a:rPr dirty="0" sz="2700" spc="-825" b="1">
                <a:latin typeface="Calibri"/>
                <a:cs typeface="Calibri"/>
              </a:rPr>
              <a:t>E</a:t>
            </a:r>
            <a:r>
              <a:rPr dirty="0" baseline="2057" sz="4050" spc="-742">
                <a:latin typeface="Calibri"/>
                <a:cs typeface="Calibri"/>
              </a:rPr>
              <a:t>a</a:t>
            </a:r>
            <a:r>
              <a:rPr dirty="0" sz="2700" spc="-1030" b="1">
                <a:latin typeface="Calibri"/>
                <a:cs typeface="Calibri"/>
              </a:rPr>
              <a:t>X</a:t>
            </a:r>
            <a:r>
              <a:rPr dirty="0" baseline="2057" sz="4050" spc="-1770">
                <a:latin typeface="Calibri"/>
                <a:cs typeface="Calibri"/>
              </a:rPr>
              <a:t>m</a:t>
            </a:r>
            <a:r>
              <a:rPr dirty="0" sz="2700" spc="-620" b="1">
                <a:latin typeface="Calibri"/>
                <a:cs typeface="Calibri"/>
              </a:rPr>
              <a:t>U</a:t>
            </a:r>
            <a:r>
              <a:rPr dirty="0" baseline="2057" sz="4050" spc="-1117">
                <a:latin typeface="Calibri"/>
                <a:cs typeface="Calibri"/>
              </a:rPr>
              <a:t>e</a:t>
            </a:r>
            <a:r>
              <a:rPr dirty="0" sz="2700" spc="-10" b="1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63522" y="2867314"/>
            <a:ext cx="3324225" cy="1247140"/>
            <a:chOff x="463522" y="2867314"/>
            <a:chExt cx="3324225" cy="124714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522" y="3057815"/>
              <a:ext cx="809037" cy="10560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45121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5346" y="2867314"/>
              <a:ext cx="1219199" cy="12191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124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00620" y="2742232"/>
            <a:ext cx="1466849" cy="146684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466593" y="3332422"/>
            <a:ext cx="636905" cy="285750"/>
          </a:xfrm>
          <a:custGeom>
            <a:avLst/>
            <a:gdLst/>
            <a:ahLst/>
            <a:cxnLst/>
            <a:rect l="l" t="t" r="r" b="b"/>
            <a:pathLst>
              <a:path w="636904" h="285750">
                <a:moveTo>
                  <a:pt x="371581" y="285749"/>
                </a:moveTo>
                <a:lnTo>
                  <a:pt x="636646" y="143396"/>
                </a:lnTo>
                <a:lnTo>
                  <a:pt x="369641" y="0"/>
                </a:lnTo>
                <a:lnTo>
                  <a:pt x="369642" y="133502"/>
                </a:lnTo>
                <a:lnTo>
                  <a:pt x="0" y="133502"/>
                </a:lnTo>
                <a:lnTo>
                  <a:pt x="0" y="153289"/>
                </a:lnTo>
                <a:lnTo>
                  <a:pt x="369641" y="153289"/>
                </a:lnTo>
                <a:lnTo>
                  <a:pt x="369641" y="285750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2199963" y="2548121"/>
            <a:ext cx="10333355" cy="5595620"/>
            <a:chOff x="2199963" y="2548121"/>
            <a:chExt cx="10333355" cy="559562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54787" y="2548121"/>
              <a:ext cx="1790699" cy="17906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193624" y="3332423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6074" y="2959669"/>
              <a:ext cx="1809749" cy="112394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407322" y="3276275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31474" y="2867501"/>
              <a:ext cx="1301262" cy="119575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9963" y="6733630"/>
              <a:ext cx="1471167" cy="140986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5309" y="6843224"/>
            <a:ext cx="931187" cy="12124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778086" y="4271089"/>
            <a:ext cx="4262120" cy="145796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700" marR="5080">
              <a:lnSpc>
                <a:spcPts val="2250"/>
              </a:lnSpc>
              <a:spcBef>
                <a:spcPts val="200"/>
              </a:spcBef>
            </a:pPr>
            <a:r>
              <a:rPr dirty="0" sz="1900">
                <a:latin typeface="Calibri"/>
                <a:cs typeface="Calibri"/>
              </a:rPr>
              <a:t>Use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AI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model(GPT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&lt;&lt;&gt;&gt;)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run </a:t>
            </a:r>
            <a:r>
              <a:rPr dirty="0" sz="1900" spc="-10">
                <a:latin typeface="Calibri"/>
                <a:cs typeface="Calibri"/>
              </a:rPr>
              <a:t>inference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contents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DPR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to </a:t>
            </a:r>
            <a:r>
              <a:rPr dirty="0" sz="1900">
                <a:latin typeface="Calibri"/>
                <a:cs typeface="Calibri"/>
              </a:rPr>
              <a:t>obtain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required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results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along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 </a:t>
            </a:r>
            <a:r>
              <a:rPr dirty="0" sz="1900">
                <a:latin typeface="Calibri"/>
                <a:cs typeface="Calibri"/>
              </a:rPr>
              <a:t>input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that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associates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output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the </a:t>
            </a:r>
            <a:r>
              <a:rPr dirty="0" sz="1900">
                <a:latin typeface="Calibri"/>
                <a:cs typeface="Calibri"/>
              </a:rPr>
              <a:t>form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JSON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20" b="1">
                <a:latin typeface="Calibri"/>
                <a:cs typeface="Calibri"/>
              </a:rPr>
              <a:t>file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481716" y="4040039"/>
            <a:ext cx="11082655" cy="4447540"/>
            <a:chOff x="1481716" y="4040039"/>
            <a:chExt cx="11082655" cy="4447540"/>
          </a:xfrm>
        </p:grpSpPr>
        <p:sp>
          <p:nvSpPr>
            <p:cNvPr id="28" name="object 28"/>
            <p:cNvSpPr/>
            <p:nvPr/>
          </p:nvSpPr>
          <p:spPr>
            <a:xfrm>
              <a:off x="1519816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5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749184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561180" y="732754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6"/>
                  </a:lnTo>
                  <a:lnTo>
                    <a:pt x="369641" y="0"/>
                  </a:lnTo>
                  <a:lnTo>
                    <a:pt x="369642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544159" y="6292695"/>
              <a:ext cx="285750" cy="636905"/>
            </a:xfrm>
            <a:custGeom>
              <a:avLst/>
              <a:gdLst/>
              <a:ahLst/>
              <a:cxnLst/>
              <a:rect l="l" t="t" r="r" b="b"/>
              <a:pathLst>
                <a:path w="285750" h="636904">
                  <a:moveTo>
                    <a:pt x="132460" y="369601"/>
                  </a:moveTo>
                  <a:lnTo>
                    <a:pt x="0" y="369601"/>
                  </a:lnTo>
                </a:path>
                <a:path w="285750" h="636904">
                  <a:moveTo>
                    <a:pt x="0" y="371541"/>
                  </a:moveTo>
                  <a:lnTo>
                    <a:pt x="142353" y="636606"/>
                  </a:lnTo>
                  <a:lnTo>
                    <a:pt x="285750" y="369601"/>
                  </a:lnTo>
                  <a:lnTo>
                    <a:pt x="152247" y="369601"/>
                  </a:lnTo>
                </a:path>
                <a:path w="285750" h="636904">
                  <a:moveTo>
                    <a:pt x="152247" y="369601"/>
                  </a:moveTo>
                  <a:lnTo>
                    <a:pt x="152247" y="0"/>
                  </a:lnTo>
                  <a:lnTo>
                    <a:pt x="132460" y="0"/>
                  </a:lnTo>
                  <a:lnTo>
                    <a:pt x="132460" y="369601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696445" y="4059089"/>
              <a:ext cx="5828030" cy="2256790"/>
            </a:xfrm>
            <a:custGeom>
              <a:avLst/>
              <a:gdLst/>
              <a:ahLst/>
              <a:cxnLst/>
              <a:rect l="l" t="t" r="r" b="b"/>
              <a:pathLst>
                <a:path w="5828030" h="2256790">
                  <a:moveTo>
                    <a:pt x="5827496" y="0"/>
                  </a:moveTo>
                  <a:lnTo>
                    <a:pt x="5827496" y="2028045"/>
                  </a:lnTo>
                  <a:lnTo>
                    <a:pt x="5822852" y="2074116"/>
                  </a:lnTo>
                  <a:lnTo>
                    <a:pt x="5809532" y="2117027"/>
                  </a:lnTo>
                  <a:lnTo>
                    <a:pt x="5788455" y="2155858"/>
                  </a:lnTo>
                  <a:lnTo>
                    <a:pt x="5760541" y="2189690"/>
                  </a:lnTo>
                  <a:lnTo>
                    <a:pt x="5726709" y="2217604"/>
                  </a:lnTo>
                  <a:lnTo>
                    <a:pt x="5687878" y="2238681"/>
                  </a:lnTo>
                  <a:lnTo>
                    <a:pt x="5644967" y="2252001"/>
                  </a:lnTo>
                  <a:lnTo>
                    <a:pt x="5598896" y="2256645"/>
                  </a:lnTo>
                  <a:lnTo>
                    <a:pt x="0" y="2256645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2239338" y="4059089"/>
              <a:ext cx="306070" cy="0"/>
            </a:xfrm>
            <a:custGeom>
              <a:avLst/>
              <a:gdLst/>
              <a:ahLst/>
              <a:cxnLst/>
              <a:rect l="l" t="t" r="r" b="b"/>
              <a:pathLst>
                <a:path w="306070" h="0">
                  <a:moveTo>
                    <a:pt x="0" y="0"/>
                  </a:moveTo>
                  <a:lnTo>
                    <a:pt x="30588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97939" y="6972557"/>
              <a:ext cx="904874" cy="90487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165167" y="7288914"/>
              <a:ext cx="636905" cy="285750"/>
            </a:xfrm>
            <a:custGeom>
              <a:avLst/>
              <a:gdLst/>
              <a:ahLst/>
              <a:cxnLst/>
              <a:rect l="l" t="t" r="r" b="b"/>
              <a:pathLst>
                <a:path w="636904" h="285750">
                  <a:moveTo>
                    <a:pt x="371581" y="285749"/>
                  </a:moveTo>
                  <a:lnTo>
                    <a:pt x="636646" y="143395"/>
                  </a:lnTo>
                  <a:lnTo>
                    <a:pt x="369641" y="0"/>
                  </a:lnTo>
                  <a:lnTo>
                    <a:pt x="369641" y="133502"/>
                  </a:lnTo>
                  <a:lnTo>
                    <a:pt x="0" y="133502"/>
                  </a:lnTo>
                  <a:lnTo>
                    <a:pt x="0" y="153289"/>
                  </a:lnTo>
                  <a:lnTo>
                    <a:pt x="369641" y="153289"/>
                  </a:lnTo>
                  <a:lnTo>
                    <a:pt x="369641" y="2857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16227" y="6506258"/>
              <a:ext cx="3128010" cy="1963420"/>
            </a:xfrm>
            <a:custGeom>
              <a:avLst/>
              <a:gdLst/>
              <a:ahLst/>
              <a:cxnLst/>
              <a:rect l="l" t="t" r="r" b="b"/>
              <a:pathLst>
                <a:path w="3128009" h="1963420">
                  <a:moveTo>
                    <a:pt x="1563927" y="1962852"/>
                  </a:moveTo>
                  <a:lnTo>
                    <a:pt x="0" y="1280380"/>
                  </a:lnTo>
                  <a:lnTo>
                    <a:pt x="0" y="682471"/>
                  </a:lnTo>
                  <a:lnTo>
                    <a:pt x="1563927" y="0"/>
                  </a:lnTo>
                  <a:lnTo>
                    <a:pt x="3127854" y="682471"/>
                  </a:lnTo>
                  <a:lnTo>
                    <a:pt x="3127854" y="1280380"/>
                  </a:lnTo>
                  <a:lnTo>
                    <a:pt x="1563927" y="1962852"/>
                  </a:lnTo>
                  <a:close/>
                </a:path>
              </a:pathLst>
            </a:custGeom>
            <a:solidFill>
              <a:srgbClr val="00B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916227" y="6506257"/>
              <a:ext cx="3124200" cy="1962150"/>
            </a:xfrm>
            <a:custGeom>
              <a:avLst/>
              <a:gdLst/>
              <a:ahLst/>
              <a:cxnLst/>
              <a:rect l="l" t="t" r="r" b="b"/>
              <a:pathLst>
                <a:path w="3124200" h="1962150">
                  <a:moveTo>
                    <a:pt x="3124153" y="1281870"/>
                  </a:moveTo>
                  <a:lnTo>
                    <a:pt x="1565491" y="1962044"/>
                  </a:lnTo>
                </a:path>
                <a:path w="3124200" h="1962150">
                  <a:moveTo>
                    <a:pt x="1562350" y="1962075"/>
                  </a:moveTo>
                  <a:lnTo>
                    <a:pt x="0" y="1280310"/>
                  </a:lnTo>
                  <a:lnTo>
                    <a:pt x="49" y="682449"/>
                  </a:lnTo>
                  <a:lnTo>
                    <a:pt x="1563885" y="0"/>
                  </a:lnTo>
                  <a:lnTo>
                    <a:pt x="3124193" y="68089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045657" y="7058771"/>
            <a:ext cx="2868930" cy="79883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 marL="12700" marR="5080">
              <a:lnSpc>
                <a:spcPts val="2030"/>
              </a:lnSpc>
              <a:spcBef>
                <a:spcPts val="175"/>
              </a:spcBef>
            </a:pPr>
            <a:r>
              <a:rPr dirty="0" sz="1700" spc="-10" b="1">
                <a:latin typeface="Calibri"/>
                <a:cs typeface="Calibri"/>
              </a:rPr>
              <a:t>Comprehensive</a:t>
            </a:r>
            <a:r>
              <a:rPr dirty="0" sz="1700" spc="-25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DPR</a:t>
            </a:r>
            <a:r>
              <a:rPr dirty="0" sz="1700" spc="-2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Analysis </a:t>
            </a:r>
            <a:r>
              <a:rPr dirty="0" sz="1700" b="1">
                <a:latin typeface="Calibri"/>
                <a:cs typeface="Calibri"/>
              </a:rPr>
              <a:t>with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Risk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Evaluation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b="1">
                <a:latin typeface="Calibri"/>
                <a:cs typeface="Calibri"/>
              </a:rPr>
              <a:t>and</a:t>
            </a:r>
            <a:r>
              <a:rPr dirty="0" sz="1700" spc="-30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Insight Generation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99708" y="6734458"/>
            <a:ext cx="1400174" cy="140017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744845" y="1769987"/>
            <a:ext cx="5215890" cy="7654290"/>
          </a:xfrm>
          <a:prstGeom prst="rect">
            <a:avLst/>
          </a:prstGeom>
          <a:ln w="76200">
            <a:solidFill>
              <a:srgbClr val="006FBF"/>
            </a:solidFill>
          </a:ln>
        </p:spPr>
        <p:txBody>
          <a:bodyPr wrap="square" lIns="0" tIns="169545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335"/>
              </a:spcBef>
            </a:pPr>
            <a:r>
              <a:rPr dirty="0" sz="2700" spc="-10" b="1">
                <a:latin typeface="Calibri"/>
                <a:cs typeface="Calibri"/>
              </a:rPr>
              <a:t>FRAMEWORKS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&amp;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TECHNOLOGIES</a:t>
            </a:r>
            <a:endParaRPr sz="2700">
              <a:latin typeface="Calibri"/>
              <a:cs typeface="Calibri"/>
            </a:endParaRPr>
          </a:p>
          <a:p>
            <a:pPr marL="535940" marR="259715" indent="-257175">
              <a:lnSpc>
                <a:spcPts val="2780"/>
              </a:lnSpc>
              <a:spcBef>
                <a:spcPts val="1960"/>
              </a:spcBef>
              <a:buFont typeface="Calibri"/>
              <a:buAutoNum type="arabicPeriod"/>
              <a:tabLst>
                <a:tab pos="535940" algn="l"/>
              </a:tabLst>
            </a:pPr>
            <a:r>
              <a:rPr dirty="0" sz="2350" spc="-50" b="1">
                <a:latin typeface="Calibri"/>
                <a:cs typeface="Calibri"/>
              </a:rPr>
              <a:t>Text</a:t>
            </a:r>
            <a:r>
              <a:rPr dirty="0" sz="2350" spc="-55" b="1">
                <a:latin typeface="Calibri"/>
                <a:cs typeface="Calibri"/>
              </a:rPr>
              <a:t> </a:t>
            </a:r>
            <a:r>
              <a:rPr dirty="0" sz="2350" spc="-10" b="1">
                <a:latin typeface="Calibri"/>
                <a:cs typeface="Calibri"/>
              </a:rPr>
              <a:t>Extractor</a:t>
            </a:r>
            <a:r>
              <a:rPr dirty="0" sz="2350" spc="-55" b="1">
                <a:latin typeface="Calibri"/>
                <a:cs typeface="Calibri"/>
              </a:rPr>
              <a:t> </a:t>
            </a:r>
            <a:r>
              <a:rPr dirty="0" sz="2350" spc="-10" b="1">
                <a:latin typeface="Calibri"/>
                <a:cs typeface="Calibri"/>
              </a:rPr>
              <a:t>(pdfplumber)</a:t>
            </a:r>
            <a:r>
              <a:rPr dirty="0" sz="2350" spc="-10">
                <a:latin typeface="Calibri"/>
                <a:cs typeface="Calibri"/>
              </a:rPr>
              <a:t>: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Extract </a:t>
            </a:r>
            <a:r>
              <a:rPr dirty="0" sz="2350">
                <a:latin typeface="Calibri"/>
                <a:cs typeface="Calibri"/>
              </a:rPr>
              <a:t>text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tables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from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DPR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PDFs.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/>
              <a:tabLst>
                <a:tab pos="535940" algn="l"/>
              </a:tabLst>
            </a:pPr>
            <a:r>
              <a:rPr dirty="0" sz="2350" spc="-60" b="1">
                <a:latin typeface="Calibri"/>
                <a:cs typeface="Calibri"/>
              </a:rPr>
              <a:t>GPT-</a:t>
            </a:r>
            <a:r>
              <a:rPr dirty="0" sz="2350" b="1">
                <a:latin typeface="Calibri"/>
                <a:cs typeface="Calibri"/>
              </a:rPr>
              <a:t>4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5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Analyze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DPRs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to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generate</a:t>
            </a:r>
            <a:endParaRPr sz="2350">
              <a:latin typeface="Calibri"/>
              <a:cs typeface="Calibri"/>
            </a:endParaRPr>
          </a:p>
          <a:p>
            <a:pPr marL="535940" marR="864869">
              <a:lnSpc>
                <a:spcPts val="2770"/>
              </a:lnSpc>
              <a:spcBef>
                <a:spcPts val="110"/>
              </a:spcBef>
            </a:pPr>
            <a:r>
              <a:rPr dirty="0" sz="2350" spc="-10">
                <a:latin typeface="Calibri"/>
                <a:cs typeface="Calibri"/>
              </a:rPr>
              <a:t>structured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JSON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with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costs, </a:t>
            </a:r>
            <a:r>
              <a:rPr dirty="0" sz="2350">
                <a:latin typeface="Calibri"/>
                <a:cs typeface="Calibri"/>
              </a:rPr>
              <a:t>timelines,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risks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u="heavy" sz="23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dirty="0" u="heavy" sz="2350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35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r>
              <a:rPr dirty="0" sz="2350" spc="-10">
                <a:latin typeface="Calibri"/>
                <a:cs typeface="Calibri"/>
              </a:rPr>
              <a:t>.</a:t>
            </a:r>
            <a:endParaRPr sz="2350">
              <a:latin typeface="Calibri"/>
              <a:cs typeface="Calibri"/>
            </a:endParaRPr>
          </a:p>
          <a:p>
            <a:pPr marL="535940" marR="267970" indent="-257175">
              <a:lnSpc>
                <a:spcPts val="2780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dirty="0" sz="2350" b="1">
                <a:latin typeface="Calibri"/>
                <a:cs typeface="Calibri"/>
              </a:rPr>
              <a:t>Local</a:t>
            </a:r>
            <a:r>
              <a:rPr dirty="0" sz="2350" spc="-35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LLM</a:t>
            </a:r>
            <a:r>
              <a:rPr dirty="0" sz="2350" spc="-30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(LLaMA</a:t>
            </a:r>
            <a:r>
              <a:rPr dirty="0" sz="2350" spc="-30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3</a:t>
            </a:r>
            <a:r>
              <a:rPr dirty="0" sz="2350" spc="-35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8B)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3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Summarize </a:t>
            </a:r>
            <a:r>
              <a:rPr dirty="0" sz="2350">
                <a:latin typeface="Calibri"/>
                <a:cs typeface="Calibri"/>
              </a:rPr>
              <a:t>large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DPRs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into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concise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20–</a:t>
            </a:r>
            <a:r>
              <a:rPr dirty="0" sz="2350">
                <a:latin typeface="Calibri"/>
                <a:cs typeface="Calibri"/>
              </a:rPr>
              <a:t>30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page </a:t>
            </a:r>
            <a:r>
              <a:rPr dirty="0" sz="2350">
                <a:latin typeface="Calibri"/>
                <a:cs typeface="Calibri"/>
              </a:rPr>
              <a:t>summaries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with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data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tables.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55"/>
              </a:lnSpc>
              <a:buFont typeface="Calibri"/>
              <a:buAutoNum type="arabicPeriod" startAt="3"/>
              <a:tabLst>
                <a:tab pos="535940" algn="l"/>
              </a:tabLst>
            </a:pPr>
            <a:r>
              <a:rPr dirty="0" sz="2350" b="1">
                <a:latin typeface="Calibri"/>
                <a:cs typeface="Calibri"/>
              </a:rPr>
              <a:t>Hugging</a:t>
            </a:r>
            <a:r>
              <a:rPr dirty="0" sz="2350" spc="-35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Face</a:t>
            </a:r>
            <a:r>
              <a:rPr dirty="0" sz="2350" spc="-30" b="1">
                <a:latin typeface="Calibri"/>
                <a:cs typeface="Calibri"/>
              </a:rPr>
              <a:t> </a:t>
            </a:r>
            <a:r>
              <a:rPr dirty="0" sz="2350" spc="-45" b="1">
                <a:latin typeface="Calibri"/>
                <a:cs typeface="Calibri"/>
              </a:rPr>
              <a:t>(DeBERTa-</a:t>
            </a:r>
            <a:r>
              <a:rPr dirty="0" sz="2350" b="1">
                <a:latin typeface="Calibri"/>
                <a:cs typeface="Calibri"/>
              </a:rPr>
              <a:t>v3</a:t>
            </a:r>
            <a:r>
              <a:rPr dirty="0" sz="2350" spc="-30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/</a:t>
            </a:r>
            <a:r>
              <a:rPr dirty="0" sz="2350" spc="-30" b="1">
                <a:latin typeface="Calibri"/>
                <a:cs typeface="Calibri"/>
              </a:rPr>
              <a:t> </a:t>
            </a:r>
            <a:r>
              <a:rPr dirty="0" sz="2350" spc="-10" b="1">
                <a:latin typeface="Calibri"/>
                <a:cs typeface="Calibri"/>
              </a:rPr>
              <a:t>FLAN-</a:t>
            </a:r>
            <a:endParaRPr sz="2350">
              <a:latin typeface="Calibri"/>
              <a:cs typeface="Calibri"/>
            </a:endParaRPr>
          </a:p>
          <a:p>
            <a:pPr marL="535940" marR="233679">
              <a:lnSpc>
                <a:spcPts val="2780"/>
              </a:lnSpc>
              <a:spcBef>
                <a:spcPts val="105"/>
              </a:spcBef>
            </a:pPr>
            <a:r>
              <a:rPr dirty="0" sz="2350" b="1">
                <a:latin typeface="Calibri"/>
                <a:cs typeface="Calibri"/>
              </a:rPr>
              <a:t>T5)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Fine-</a:t>
            </a:r>
            <a:r>
              <a:rPr dirty="0" sz="2350">
                <a:latin typeface="Calibri"/>
                <a:cs typeface="Calibri"/>
              </a:rPr>
              <a:t>tune</a:t>
            </a:r>
            <a:r>
              <a:rPr dirty="0" sz="2350" spc="-4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models</a:t>
            </a:r>
            <a:r>
              <a:rPr dirty="0" sz="2350" spc="-4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to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classify</a:t>
            </a:r>
            <a:r>
              <a:rPr dirty="0" sz="2350" spc="-40"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and </a:t>
            </a:r>
            <a:r>
              <a:rPr dirty="0" sz="2350">
                <a:latin typeface="Calibri"/>
                <a:cs typeface="Calibri"/>
              </a:rPr>
              <a:t>score</a:t>
            </a:r>
            <a:r>
              <a:rPr dirty="0" sz="2350" spc="-11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project</a:t>
            </a:r>
            <a:r>
              <a:rPr dirty="0" sz="2350" spc="-10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risks.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5"/>
              <a:tabLst>
                <a:tab pos="535940" algn="l"/>
              </a:tabLst>
            </a:pPr>
            <a:r>
              <a:rPr dirty="0" sz="2350" spc="-30" b="1">
                <a:latin typeface="Calibri"/>
                <a:cs typeface="Calibri"/>
              </a:rPr>
              <a:t>Transformers</a:t>
            </a:r>
            <a:r>
              <a:rPr dirty="0" sz="2350" spc="-95" b="1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Library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9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Optimize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LLMs</a:t>
            </a:r>
            <a:endParaRPr sz="2350">
              <a:latin typeface="Calibri"/>
              <a:cs typeface="Calibri"/>
            </a:endParaRPr>
          </a:p>
          <a:p>
            <a:pPr marL="535940">
              <a:lnSpc>
                <a:spcPts val="2775"/>
              </a:lnSpc>
            </a:pPr>
            <a:r>
              <a:rPr dirty="0" sz="2350">
                <a:latin typeface="Calibri"/>
                <a:cs typeface="Calibri"/>
              </a:rPr>
              <a:t>using</a:t>
            </a:r>
            <a:r>
              <a:rPr dirty="0" sz="2350" spc="-50">
                <a:latin typeface="Calibri"/>
                <a:cs typeface="Calibri"/>
              </a:rPr>
              <a:t> </a:t>
            </a:r>
            <a:r>
              <a:rPr dirty="0" sz="2350" b="1">
                <a:latin typeface="Calibri"/>
                <a:cs typeface="Calibri"/>
              </a:rPr>
              <a:t>LoRA</a:t>
            </a:r>
            <a:r>
              <a:rPr dirty="0" sz="2350" spc="-50" b="1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-5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distributed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training.</a:t>
            </a:r>
            <a:endParaRPr sz="2350">
              <a:latin typeface="Calibri"/>
              <a:cs typeface="Calibri"/>
            </a:endParaRPr>
          </a:p>
          <a:p>
            <a:pPr marL="535940" marR="1162685" indent="-257175">
              <a:lnSpc>
                <a:spcPts val="2780"/>
              </a:lnSpc>
              <a:spcBef>
                <a:spcPts val="105"/>
              </a:spcBef>
              <a:buFont typeface="Calibri"/>
              <a:buAutoNum type="arabicPeriod" startAt="6"/>
              <a:tabLst>
                <a:tab pos="535940" algn="l"/>
              </a:tabLst>
            </a:pPr>
            <a:r>
              <a:rPr dirty="0" sz="2350" b="1">
                <a:latin typeface="Calibri"/>
                <a:cs typeface="Calibri"/>
              </a:rPr>
              <a:t>JSON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Store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extracted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text, </a:t>
            </a:r>
            <a:r>
              <a:rPr dirty="0" sz="2350">
                <a:latin typeface="Calibri"/>
                <a:cs typeface="Calibri"/>
              </a:rPr>
              <a:t>summaries,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and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risk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outputs.</a:t>
            </a:r>
            <a:endParaRPr sz="2350">
              <a:latin typeface="Calibri"/>
              <a:cs typeface="Calibri"/>
            </a:endParaRPr>
          </a:p>
          <a:p>
            <a:pPr marL="535940" indent="-256540">
              <a:lnSpc>
                <a:spcPts val="2660"/>
              </a:lnSpc>
              <a:buFont typeface="Calibri"/>
              <a:buAutoNum type="arabicPeriod" startAt="6"/>
              <a:tabLst>
                <a:tab pos="535940" algn="l"/>
              </a:tabLst>
            </a:pPr>
            <a:r>
              <a:rPr dirty="0" sz="2350" b="1">
                <a:latin typeface="Calibri"/>
                <a:cs typeface="Calibri"/>
              </a:rPr>
              <a:t>vLLM</a:t>
            </a:r>
            <a:r>
              <a:rPr dirty="0" sz="2350">
                <a:latin typeface="Calibri"/>
                <a:cs typeface="Calibri"/>
              </a:rPr>
              <a:t>: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Run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local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LLMs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efficiently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with</a:t>
            </a:r>
            <a:endParaRPr sz="2350">
              <a:latin typeface="Calibri"/>
              <a:cs typeface="Calibri"/>
            </a:endParaRPr>
          </a:p>
          <a:p>
            <a:pPr marL="535940" marR="452755">
              <a:lnSpc>
                <a:spcPts val="2780"/>
              </a:lnSpc>
              <a:spcBef>
                <a:spcPts val="105"/>
              </a:spcBef>
            </a:pPr>
            <a:r>
              <a:rPr dirty="0" sz="2350" spc="-10">
                <a:latin typeface="Calibri"/>
                <a:cs typeface="Calibri"/>
              </a:rPr>
              <a:t>quantization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for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fast,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memory-</a:t>
            </a:r>
            <a:r>
              <a:rPr dirty="0" sz="2350" spc="-10">
                <a:latin typeface="Calibri"/>
                <a:cs typeface="Calibri"/>
              </a:rPr>
              <a:t>light inference.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6599499" y="2663517"/>
            <a:ext cx="55181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0" b="1">
                <a:latin typeface="Calibri"/>
                <a:cs typeface="Calibri"/>
              </a:rPr>
              <a:t>INPUT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34877" y="3132979"/>
            <a:ext cx="733425" cy="2679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9689" y="1701783"/>
            <a:ext cx="7414895" cy="107061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795"/>
              </a:spcBef>
            </a:pPr>
            <a:r>
              <a:rPr dirty="0" sz="2700" b="1">
                <a:latin typeface="Calibri"/>
                <a:cs typeface="Calibri"/>
              </a:rPr>
              <a:t>FOR</a:t>
            </a:r>
            <a:r>
              <a:rPr dirty="0" sz="2700" spc="-6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TRAINING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LLM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spc="-40" b="1">
                <a:latin typeface="Calibri"/>
                <a:cs typeface="Calibri"/>
              </a:rPr>
              <a:t>THAT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GIVES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FINAL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PREDICTIONS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 b="1">
                <a:latin typeface="Calibri"/>
                <a:cs typeface="Calibri"/>
              </a:rPr>
              <a:t>SMALL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4696" y="2643806"/>
            <a:ext cx="1579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INTENSIVE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DPRS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6225" y="4271089"/>
            <a:ext cx="2214880" cy="11722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065" marR="5080" indent="-635">
              <a:lnSpc>
                <a:spcPts val="2250"/>
              </a:lnSpc>
              <a:spcBef>
                <a:spcPts val="200"/>
              </a:spcBef>
            </a:pPr>
            <a:r>
              <a:rPr dirty="0" sz="1900">
                <a:latin typeface="Calibri"/>
                <a:cs typeface="Calibri"/>
              </a:rPr>
              <a:t>Input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PDF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use </a:t>
            </a:r>
            <a:r>
              <a:rPr dirty="0" sz="1900">
                <a:latin typeface="Calibri"/>
                <a:cs typeface="Calibri"/>
              </a:rPr>
              <a:t>text</a:t>
            </a:r>
            <a:r>
              <a:rPr dirty="0" sz="1900" spc="-8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extractor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enabled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OCR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extract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its </a:t>
            </a:r>
            <a:r>
              <a:rPr dirty="0" sz="1900" spc="-10">
                <a:latin typeface="Calibri"/>
                <a:cs typeface="Calibri"/>
              </a:rPr>
              <a:t>content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8873" y="6007782"/>
            <a:ext cx="43268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Calibri"/>
                <a:cs typeface="Calibri"/>
              </a:rPr>
              <a:t>FOR</a:t>
            </a:r>
            <a:r>
              <a:rPr dirty="0" sz="2700" spc="-6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PROCESSING</a:t>
            </a:r>
            <a:r>
              <a:rPr dirty="0" sz="2700" spc="-6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LARGE</a:t>
            </a:r>
            <a:r>
              <a:rPr dirty="0" sz="2700" spc="-60" b="1">
                <a:latin typeface="Calibri"/>
                <a:cs typeface="Calibri"/>
              </a:rPr>
              <a:t> </a:t>
            </a:r>
            <a:r>
              <a:rPr dirty="0" sz="2700" spc="-20" b="1">
                <a:latin typeface="Calibri"/>
                <a:cs typeface="Calibri"/>
              </a:rPr>
              <a:t>DPRS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32728" y="4216187"/>
            <a:ext cx="3920490" cy="145796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700" marR="5080">
              <a:lnSpc>
                <a:spcPts val="2250"/>
              </a:lnSpc>
              <a:spcBef>
                <a:spcPts val="200"/>
              </a:spcBef>
            </a:pPr>
            <a:r>
              <a:rPr dirty="0" sz="1900">
                <a:latin typeface="Calibri"/>
                <a:cs typeface="Calibri"/>
              </a:rPr>
              <a:t>Use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hugging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face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transformer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train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fine-</a:t>
            </a:r>
            <a:r>
              <a:rPr dirty="0" sz="1900" b="1">
                <a:latin typeface="Calibri"/>
                <a:cs typeface="Calibri"/>
              </a:rPr>
              <a:t>tune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LLM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using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input-</a:t>
            </a:r>
            <a:r>
              <a:rPr dirty="0" sz="1900" b="1">
                <a:latin typeface="Calibri"/>
                <a:cs typeface="Calibri"/>
              </a:rPr>
              <a:t>output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pair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thus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instructing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it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to </a:t>
            </a:r>
            <a:r>
              <a:rPr dirty="0" sz="1900" spc="-20">
                <a:latin typeface="Calibri"/>
                <a:cs typeface="Calibri"/>
              </a:rPr>
              <a:t>understand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how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risk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analysis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and </a:t>
            </a:r>
            <a:r>
              <a:rPr dirty="0" sz="1900" spc="-10">
                <a:latin typeface="Calibri"/>
                <a:cs typeface="Calibri"/>
              </a:rPr>
              <a:t>meaningful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insights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obtained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3940" y="8100723"/>
            <a:ext cx="3286760" cy="13665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algn="ctr" marL="12700" marR="5080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lengthy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DPR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200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 </a:t>
            </a:r>
            <a:r>
              <a:rPr dirty="0" sz="1800" spc="-10">
                <a:latin typeface="Calibri"/>
                <a:cs typeface="Calibri"/>
              </a:rPr>
              <a:t>processed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LLM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model,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condenses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50">
                <a:latin typeface="Calibri"/>
                <a:cs typeface="Calibri"/>
              </a:rPr>
              <a:t> a </a:t>
            </a:r>
            <a:r>
              <a:rPr dirty="0" sz="1800">
                <a:latin typeface="Calibri"/>
                <a:cs typeface="Calibri"/>
              </a:rPr>
              <a:t>structured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20-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equivalent </a:t>
            </a:r>
            <a:r>
              <a:rPr dirty="0" sz="1800">
                <a:latin typeface="Calibri"/>
                <a:cs typeface="Calibri"/>
              </a:rPr>
              <a:t>summary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JSON </a:t>
            </a:r>
            <a:r>
              <a:rPr dirty="0" sz="1800" spc="-10">
                <a:latin typeface="Calibri"/>
                <a:cs typeface="Calibri"/>
              </a:rPr>
              <a:t>format.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69582" y="8168333"/>
            <a:ext cx="3030855" cy="11722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ctr" marL="12065" marR="5080">
              <a:lnSpc>
                <a:spcPts val="2250"/>
              </a:lnSpc>
              <a:spcBef>
                <a:spcPts val="200"/>
              </a:spcBef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JSON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file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then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input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into </a:t>
            </a:r>
            <a:r>
              <a:rPr dirty="0" sz="1900">
                <a:latin typeface="Calibri"/>
                <a:cs typeface="Calibri"/>
              </a:rPr>
              <a:t>our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pretrained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model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25">
                <a:latin typeface="Calibri"/>
                <a:cs typeface="Calibri"/>
              </a:rPr>
              <a:t>to </a:t>
            </a:r>
            <a:r>
              <a:rPr dirty="0" sz="1900" spc="-10">
                <a:latin typeface="Calibri"/>
                <a:cs typeface="Calibri"/>
              </a:rPr>
              <a:t>provide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comprehensive analysis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9318"/>
            <a:ext cx="18288000" cy="9928225"/>
            <a:chOff x="0" y="359318"/>
            <a:chExt cx="18288000" cy="9928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3975" y="1240338"/>
              <a:ext cx="8534399" cy="85439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532142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589" y="754856"/>
                  </a:moveTo>
                  <a:lnTo>
                    <a:pt x="0" y="754856"/>
                  </a:lnTo>
                  <a:lnTo>
                    <a:pt x="0" y="0"/>
                  </a:lnTo>
                  <a:lnTo>
                    <a:pt x="18287589" y="0"/>
                  </a:lnTo>
                  <a:lnTo>
                    <a:pt x="18287589" y="754856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6928" rIns="0" bIns="0" rtlCol="0" vert="horz">
            <a:spAutoFit/>
          </a:bodyPr>
          <a:lstStyle/>
          <a:p>
            <a:pPr marL="157543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dirty="0" spc="20"/>
              <a:t> </a:t>
            </a:r>
            <a:r>
              <a:rPr dirty="0" spc="140"/>
              <a:t>AND</a:t>
            </a:r>
            <a:r>
              <a:rPr dirty="0" spc="20"/>
              <a:t> </a:t>
            </a:r>
            <a:r>
              <a:rPr dirty="0" spc="-10"/>
              <a:t>VIABILITY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65"/>
              </a:lnSpc>
            </a:pPr>
            <a:r>
              <a:rPr dirty="0" sz="2700" spc="-25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5609" y="85645"/>
            <a:ext cx="17600295" cy="1684655"/>
            <a:chOff x="475609" y="85645"/>
            <a:chExt cx="17600295" cy="16846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62049" y="85645"/>
              <a:ext cx="3313652" cy="16843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dirty="0" sz="2700" spc="-20">
                <a:latin typeface="Calibri"/>
                <a:cs typeface="Calibri"/>
              </a:rPr>
              <a:t>Your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dirty="0" sz="2700" spc="-1250" b="1">
                <a:latin typeface="Calibri"/>
                <a:cs typeface="Calibri"/>
              </a:rPr>
              <a:t>N</a:t>
            </a:r>
            <a:r>
              <a:rPr dirty="0" baseline="2057" sz="4050" spc="-780">
                <a:latin typeface="Calibri"/>
                <a:cs typeface="Calibri"/>
              </a:rPr>
              <a:t>N</a:t>
            </a:r>
            <a:r>
              <a:rPr dirty="0" sz="2700" spc="-825" b="1">
                <a:latin typeface="Calibri"/>
                <a:cs typeface="Calibri"/>
              </a:rPr>
              <a:t>E</a:t>
            </a:r>
            <a:r>
              <a:rPr dirty="0" baseline="2057" sz="4050" spc="-742">
                <a:latin typeface="Calibri"/>
                <a:cs typeface="Calibri"/>
              </a:rPr>
              <a:t>a</a:t>
            </a:r>
            <a:r>
              <a:rPr dirty="0" sz="2700" spc="-1030" b="1">
                <a:latin typeface="Calibri"/>
                <a:cs typeface="Calibri"/>
              </a:rPr>
              <a:t>X</a:t>
            </a:r>
            <a:r>
              <a:rPr dirty="0" baseline="2057" sz="4050" spc="-1770">
                <a:latin typeface="Calibri"/>
                <a:cs typeface="Calibri"/>
              </a:rPr>
              <a:t>m</a:t>
            </a:r>
            <a:r>
              <a:rPr dirty="0" sz="2700" spc="-620" b="1">
                <a:latin typeface="Calibri"/>
                <a:cs typeface="Calibri"/>
              </a:rPr>
              <a:t>U</a:t>
            </a:r>
            <a:r>
              <a:rPr dirty="0" baseline="2057" sz="4050" spc="-1117">
                <a:latin typeface="Calibri"/>
                <a:cs typeface="Calibri"/>
              </a:rPr>
              <a:t>e</a:t>
            </a:r>
            <a:r>
              <a:rPr dirty="0" sz="2700" spc="-10" b="1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2044" y="475703"/>
            <a:ext cx="17557750" cy="8820785"/>
            <a:chOff x="362044" y="475703"/>
            <a:chExt cx="17557750" cy="882078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3948" y="475703"/>
              <a:ext cx="723899" cy="59054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0144" y="1769964"/>
              <a:ext cx="5554980" cy="7488555"/>
            </a:xfrm>
            <a:custGeom>
              <a:avLst/>
              <a:gdLst/>
              <a:ahLst/>
              <a:cxnLst/>
              <a:rect l="l" t="t" r="r" b="b"/>
              <a:pathLst>
                <a:path w="5554980" h="7488555">
                  <a:moveTo>
                    <a:pt x="0" y="0"/>
                  </a:moveTo>
                  <a:lnTo>
                    <a:pt x="5554563" y="0"/>
                  </a:lnTo>
                  <a:lnTo>
                    <a:pt x="5554563" y="7488252"/>
                  </a:lnTo>
                  <a:lnTo>
                    <a:pt x="0" y="7488252"/>
                  </a:lnTo>
                  <a:lnTo>
                    <a:pt x="0" y="0"/>
                  </a:lnTo>
                  <a:close/>
                </a:path>
              </a:pathLst>
            </a:custGeom>
            <a:ln w="76200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378528" y="1769949"/>
              <a:ext cx="11503025" cy="7488555"/>
            </a:xfrm>
            <a:custGeom>
              <a:avLst/>
              <a:gdLst/>
              <a:ahLst/>
              <a:cxnLst/>
              <a:rect l="l" t="t" r="r" b="b"/>
              <a:pathLst>
                <a:path w="11503025" h="7488555">
                  <a:moveTo>
                    <a:pt x="0" y="0"/>
                  </a:moveTo>
                  <a:lnTo>
                    <a:pt x="11502776" y="0"/>
                  </a:lnTo>
                  <a:lnTo>
                    <a:pt x="11502776" y="7488282"/>
                  </a:lnTo>
                  <a:lnTo>
                    <a:pt x="0" y="7488282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3133729"/>
              <a:ext cx="85725" cy="857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948639" y="2911478"/>
            <a:ext cx="4681220" cy="12560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12700" marR="5080">
              <a:lnSpc>
                <a:spcPts val="3229"/>
              </a:lnSpc>
              <a:spcBef>
                <a:spcPts val="200"/>
              </a:spcBef>
            </a:pPr>
            <a:r>
              <a:rPr dirty="0" sz="2700">
                <a:latin typeface="Calibri"/>
                <a:cs typeface="Calibri"/>
              </a:rPr>
              <a:t>Limited</a:t>
            </a:r>
            <a:r>
              <a:rPr dirty="0" sz="2700" spc="-70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availability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of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annotated </a:t>
            </a:r>
            <a:r>
              <a:rPr dirty="0" sz="2700" b="1">
                <a:latin typeface="Calibri"/>
                <a:cs typeface="Calibri"/>
              </a:rPr>
              <a:t>DPR</a:t>
            </a:r>
            <a:r>
              <a:rPr dirty="0" sz="2700" spc="-4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datasets</a:t>
            </a:r>
            <a:r>
              <a:rPr dirty="0" sz="2700" spc="-40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supervised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fine-tuning.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690" y="2160203"/>
            <a:ext cx="11992610" cy="6808470"/>
            <a:chOff x="594690" y="2160203"/>
            <a:chExt cx="11992610" cy="680847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4772029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1428" y="6410329"/>
              <a:ext cx="85725" cy="857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428" y="7639053"/>
              <a:ext cx="85725" cy="857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167998" y="2179253"/>
              <a:ext cx="35560" cy="6770370"/>
            </a:xfrm>
            <a:custGeom>
              <a:avLst/>
              <a:gdLst/>
              <a:ahLst/>
              <a:cxnLst/>
              <a:rect l="l" t="t" r="r" b="b"/>
              <a:pathLst>
                <a:path w="35559" h="6770370">
                  <a:moveTo>
                    <a:pt x="0" y="6769948"/>
                  </a:moveTo>
                  <a:lnTo>
                    <a:pt x="3501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3279464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4451038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6013138"/>
              <a:ext cx="85725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690" y="7575238"/>
              <a:ext cx="85725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2869888"/>
              <a:ext cx="85725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4593913"/>
              <a:ext cx="85725" cy="857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6317938"/>
              <a:ext cx="85725" cy="85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01444" y="7651438"/>
              <a:ext cx="85725" cy="857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948639" y="4549779"/>
            <a:ext cx="4283710" cy="125603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220"/>
              </a:spcBef>
            </a:pPr>
            <a:r>
              <a:rPr dirty="0" sz="2700">
                <a:latin typeface="Calibri"/>
                <a:cs typeface="Calibri"/>
              </a:rPr>
              <a:t>Handling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document</a:t>
            </a:r>
            <a:r>
              <a:rPr dirty="0" sz="2700" spc="-55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variations </a:t>
            </a:r>
            <a:r>
              <a:rPr dirty="0" sz="2700">
                <a:latin typeface="Calibri"/>
                <a:cs typeface="Calibri"/>
              </a:rPr>
              <a:t>(scanned images, </a:t>
            </a:r>
            <a:r>
              <a:rPr dirty="0" sz="2700" spc="-10">
                <a:latin typeface="Calibri"/>
                <a:cs typeface="Calibri"/>
              </a:rPr>
              <a:t>formatting inconsistencies).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6948639" y="6188078"/>
            <a:ext cx="4834890" cy="8464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dirty="0" sz="2700">
                <a:latin typeface="Calibri"/>
                <a:cs typeface="Calibri"/>
              </a:rPr>
              <a:t>High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computational</a:t>
            </a:r>
            <a:r>
              <a:rPr dirty="0" sz="2700" spc="-4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requirements </a:t>
            </a:r>
            <a:r>
              <a:rPr dirty="0" sz="2700">
                <a:latin typeface="Calibri"/>
                <a:cs typeface="Calibri"/>
              </a:rPr>
              <a:t>for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LLM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training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and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inference.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48639" y="7416803"/>
            <a:ext cx="4190365" cy="125603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just" marL="12700" marR="5080">
              <a:lnSpc>
                <a:spcPts val="3220"/>
              </a:lnSpc>
              <a:spcBef>
                <a:spcPts val="220"/>
              </a:spcBef>
            </a:pPr>
            <a:r>
              <a:rPr dirty="0" sz="2700">
                <a:latin typeface="Calibri"/>
                <a:cs typeface="Calibri"/>
              </a:rPr>
              <a:t>Model explainability and </a:t>
            </a:r>
            <a:r>
              <a:rPr dirty="0" sz="2700" spc="-20" b="1">
                <a:latin typeface="Calibri"/>
                <a:cs typeface="Calibri"/>
              </a:rPr>
              <a:t>bias </a:t>
            </a:r>
            <a:r>
              <a:rPr dirty="0" sz="2700" b="1">
                <a:latin typeface="Calibri"/>
                <a:cs typeface="Calibri"/>
              </a:rPr>
              <a:t>detection</a:t>
            </a:r>
            <a:r>
              <a:rPr dirty="0" sz="2700" spc="-40" b="1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in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AI-generated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risk </a:t>
            </a:r>
            <a:r>
              <a:rPr dirty="0" sz="2700" spc="-10">
                <a:latin typeface="Calibri"/>
                <a:cs typeface="Calibri"/>
              </a:rPr>
              <a:t>assessments.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07959" y="1917452"/>
            <a:ext cx="42957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0" b="1">
                <a:latin typeface="Calibri"/>
                <a:cs typeface="Calibri"/>
              </a:rPr>
              <a:t>POTENTIAL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CHALLENGES/RISKS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6680" y="1840333"/>
            <a:ext cx="5191125" cy="99060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 marR="294640">
              <a:lnSpc>
                <a:spcPct val="100000"/>
              </a:lnSpc>
              <a:spcBef>
                <a:spcPts val="705"/>
              </a:spcBef>
            </a:pPr>
            <a:r>
              <a:rPr dirty="0" sz="2600" spc="-10" b="1">
                <a:latin typeface="Calibri"/>
                <a:cs typeface="Calibri"/>
              </a:rPr>
              <a:t>FEASIBILITY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2700" b="1">
                <a:latin typeface="Calibri"/>
                <a:cs typeface="Calibri"/>
              </a:rPr>
              <a:t>What</a:t>
            </a:r>
            <a:r>
              <a:rPr dirty="0" sz="2700" spc="-7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make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this</a:t>
            </a:r>
            <a:r>
              <a:rPr dirty="0" sz="2700" spc="-7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idea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realistic</a:t>
            </a:r>
            <a:r>
              <a:rPr dirty="0" sz="2700" spc="-7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is</a:t>
            </a:r>
            <a:r>
              <a:rPr dirty="0" sz="2700" spc="-7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that: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1929" y="3064834"/>
            <a:ext cx="5032375" cy="5883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54355">
              <a:lnSpc>
                <a:spcPct val="100499"/>
              </a:lnSpc>
              <a:spcBef>
                <a:spcPts val="100"/>
              </a:spcBef>
            </a:pPr>
            <a:r>
              <a:rPr dirty="0" sz="2550">
                <a:latin typeface="Calibri"/>
                <a:cs typeface="Calibri"/>
              </a:rPr>
              <a:t>Government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DPRs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follow </a:t>
            </a:r>
            <a:r>
              <a:rPr dirty="0" sz="2550" b="1">
                <a:latin typeface="Calibri"/>
                <a:cs typeface="Calibri"/>
              </a:rPr>
              <a:t>standardized</a:t>
            </a:r>
            <a:r>
              <a:rPr dirty="0" sz="2550" spc="-9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structures</a:t>
            </a:r>
            <a:r>
              <a:rPr dirty="0" sz="2550">
                <a:latin typeface="Calibri"/>
                <a:cs typeface="Calibri"/>
              </a:rPr>
              <a:t>,</a:t>
            </a:r>
            <a:r>
              <a:rPr dirty="0" sz="2550" spc="-9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enabling </a:t>
            </a:r>
            <a:r>
              <a:rPr dirty="0" sz="2550" b="1">
                <a:latin typeface="Calibri"/>
                <a:cs typeface="Calibri"/>
              </a:rPr>
              <a:t>consistent</a:t>
            </a:r>
            <a:r>
              <a:rPr dirty="0" sz="2550" spc="-6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data</a:t>
            </a:r>
            <a:r>
              <a:rPr dirty="0" sz="2550" spc="-60" b="1">
                <a:latin typeface="Calibri"/>
                <a:cs typeface="Calibri"/>
              </a:rPr>
              <a:t> </a:t>
            </a:r>
            <a:r>
              <a:rPr dirty="0" sz="2550" spc="-10" b="1">
                <a:latin typeface="Calibri"/>
                <a:cs typeface="Calibri"/>
              </a:rPr>
              <a:t>extraction</a:t>
            </a:r>
            <a:r>
              <a:rPr dirty="0" sz="2550" spc="-10">
                <a:latin typeface="Calibri"/>
                <a:cs typeface="Calibri"/>
              </a:rPr>
              <a:t>.</a:t>
            </a:r>
            <a:endParaRPr sz="2550">
              <a:latin typeface="Calibri"/>
              <a:cs typeface="Calibri"/>
            </a:endParaRPr>
          </a:p>
          <a:p>
            <a:pPr marL="12700" marR="106045">
              <a:lnSpc>
                <a:spcPct val="100499"/>
              </a:lnSpc>
            </a:pPr>
            <a:r>
              <a:rPr dirty="0" sz="2550" b="1">
                <a:latin typeface="Calibri"/>
                <a:cs typeface="Calibri"/>
              </a:rPr>
              <a:t>Open-source</a:t>
            </a:r>
            <a:r>
              <a:rPr dirty="0" sz="2550" spc="-1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LLMs,</a:t>
            </a:r>
            <a:r>
              <a:rPr dirty="0" sz="2550" spc="-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LoRA</a:t>
            </a:r>
            <a:r>
              <a:rPr dirty="0" sz="2550" spc="-5" b="1">
                <a:latin typeface="Calibri"/>
                <a:cs typeface="Calibri"/>
              </a:rPr>
              <a:t> </a:t>
            </a:r>
            <a:r>
              <a:rPr dirty="0" sz="2550" spc="-10" b="1">
                <a:latin typeface="Calibri"/>
                <a:cs typeface="Calibri"/>
              </a:rPr>
              <a:t>fine-tuning </a:t>
            </a:r>
            <a:r>
              <a:rPr dirty="0" sz="2550" b="1">
                <a:latin typeface="Calibri"/>
                <a:cs typeface="Calibri"/>
              </a:rPr>
              <a:t>and</a:t>
            </a:r>
            <a:r>
              <a:rPr dirty="0" sz="2550" spc="-3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OCR</a:t>
            </a:r>
            <a:r>
              <a:rPr dirty="0" sz="2550" spc="-3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tools</a:t>
            </a:r>
            <a:r>
              <a:rPr dirty="0" sz="2550" spc="-35" b="1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can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be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customized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for </a:t>
            </a:r>
            <a:r>
              <a:rPr dirty="0" sz="2550" b="1">
                <a:latin typeface="Calibri"/>
                <a:cs typeface="Calibri"/>
              </a:rPr>
              <a:t>domain-specific</a:t>
            </a:r>
            <a:r>
              <a:rPr dirty="0" sz="2550" spc="-2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training</a:t>
            </a:r>
            <a:r>
              <a:rPr dirty="0" sz="2550" spc="-2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and</a:t>
            </a:r>
            <a:r>
              <a:rPr dirty="0" sz="2550" spc="-15" b="1">
                <a:latin typeface="Calibri"/>
                <a:cs typeface="Calibri"/>
              </a:rPr>
              <a:t> </a:t>
            </a:r>
            <a:r>
              <a:rPr dirty="0" sz="2550" spc="-20" b="1">
                <a:latin typeface="Calibri"/>
                <a:cs typeface="Calibri"/>
              </a:rPr>
              <a:t>cost </a:t>
            </a:r>
            <a:r>
              <a:rPr dirty="0" sz="2550" spc="-10" b="1">
                <a:latin typeface="Calibri"/>
                <a:cs typeface="Calibri"/>
              </a:rPr>
              <a:t>effectiveness.</a:t>
            </a:r>
            <a:endParaRPr sz="2550">
              <a:latin typeface="Calibri"/>
              <a:cs typeface="Calibri"/>
            </a:endParaRPr>
          </a:p>
          <a:p>
            <a:pPr algn="just" marL="12700" marR="56515">
              <a:lnSpc>
                <a:spcPct val="100499"/>
              </a:lnSpc>
            </a:pPr>
            <a:r>
              <a:rPr dirty="0" sz="2550">
                <a:latin typeface="Calibri"/>
                <a:cs typeface="Calibri"/>
              </a:rPr>
              <a:t>Feasible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integration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with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existing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DPR </a:t>
            </a:r>
            <a:r>
              <a:rPr dirty="0" sz="2550">
                <a:latin typeface="Calibri"/>
                <a:cs typeface="Calibri"/>
              </a:rPr>
              <a:t>management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systems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using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APIs</a:t>
            </a:r>
            <a:r>
              <a:rPr dirty="0" sz="2550" spc="-60" b="1">
                <a:latin typeface="Calibri"/>
                <a:cs typeface="Calibri"/>
              </a:rPr>
              <a:t> </a:t>
            </a:r>
            <a:r>
              <a:rPr dirty="0" sz="2550" spc="-25" b="1">
                <a:latin typeface="Calibri"/>
                <a:cs typeface="Calibri"/>
              </a:rPr>
              <a:t>and </a:t>
            </a:r>
            <a:r>
              <a:rPr dirty="0" sz="2550" b="1">
                <a:latin typeface="Calibri"/>
                <a:cs typeface="Calibri"/>
              </a:rPr>
              <a:t>JSON</a:t>
            </a:r>
            <a:r>
              <a:rPr dirty="0" sz="2550" spc="-5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formats</a:t>
            </a:r>
            <a:r>
              <a:rPr dirty="0" sz="2550" spc="-50" b="1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locally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generated,</a:t>
            </a:r>
            <a:r>
              <a:rPr dirty="0" sz="2550" spc="-55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thus </a:t>
            </a:r>
            <a:r>
              <a:rPr dirty="0" sz="2550">
                <a:latin typeface="Calibri"/>
                <a:cs typeface="Calibri"/>
              </a:rPr>
              <a:t>also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ensuring</a:t>
            </a:r>
            <a:r>
              <a:rPr dirty="0" sz="2550" spc="-2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security.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00499"/>
              </a:lnSpc>
            </a:pPr>
            <a:r>
              <a:rPr dirty="0" sz="2550">
                <a:latin typeface="Calibri"/>
                <a:cs typeface="Calibri"/>
              </a:rPr>
              <a:t>Our</a:t>
            </a:r>
            <a:r>
              <a:rPr dirty="0" sz="2550" spc="-10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modular</a:t>
            </a:r>
            <a:r>
              <a:rPr dirty="0" sz="2550" spc="-1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pipeline</a:t>
            </a:r>
            <a:r>
              <a:rPr dirty="0" sz="2550" spc="-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(OCR</a:t>
            </a:r>
            <a:r>
              <a:rPr dirty="0" sz="2550" spc="-1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→</a:t>
            </a:r>
            <a:r>
              <a:rPr dirty="0" sz="2550" spc="-1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LLM</a:t>
            </a:r>
            <a:r>
              <a:rPr dirty="0" sz="2550" spc="-5" b="1">
                <a:latin typeface="Calibri"/>
                <a:cs typeface="Calibri"/>
              </a:rPr>
              <a:t> </a:t>
            </a:r>
            <a:r>
              <a:rPr dirty="0" sz="2550" spc="-50" b="1">
                <a:latin typeface="Calibri"/>
                <a:cs typeface="Calibri"/>
              </a:rPr>
              <a:t>→ </a:t>
            </a:r>
            <a:r>
              <a:rPr dirty="0" sz="2550" b="1">
                <a:latin typeface="Calibri"/>
                <a:cs typeface="Calibri"/>
              </a:rPr>
              <a:t>JSON</a:t>
            </a:r>
            <a:r>
              <a:rPr dirty="0" sz="2550" spc="-20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→</a:t>
            </a:r>
            <a:r>
              <a:rPr dirty="0" sz="2550" spc="-15" b="1">
                <a:latin typeface="Calibri"/>
                <a:cs typeface="Calibri"/>
              </a:rPr>
              <a:t> </a:t>
            </a:r>
            <a:r>
              <a:rPr dirty="0" sz="2550" b="1">
                <a:latin typeface="Calibri"/>
                <a:cs typeface="Calibri"/>
              </a:rPr>
              <a:t>Dashboard)</a:t>
            </a:r>
            <a:r>
              <a:rPr dirty="0" sz="2550" spc="-20" b="1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can</a:t>
            </a:r>
            <a:r>
              <a:rPr dirty="0" sz="2550" spc="-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be</a:t>
            </a:r>
            <a:r>
              <a:rPr dirty="0" sz="2550" spc="-1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built </a:t>
            </a:r>
            <a:r>
              <a:rPr dirty="0" sz="2550">
                <a:latin typeface="Calibri"/>
                <a:cs typeface="Calibri"/>
              </a:rPr>
              <a:t>incrementally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and</a:t>
            </a:r>
            <a:r>
              <a:rPr dirty="0" sz="2550" spc="-6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validated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at</a:t>
            </a:r>
            <a:r>
              <a:rPr dirty="0" sz="2550" spc="-65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each </a:t>
            </a:r>
            <a:r>
              <a:rPr dirty="0" sz="2550" spc="-10">
                <a:latin typeface="Calibri"/>
                <a:cs typeface="Calibri"/>
              </a:rPr>
              <a:t>stage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434939" y="1917452"/>
            <a:ext cx="31800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latin typeface="Calibri"/>
                <a:cs typeface="Calibri"/>
              </a:rPr>
              <a:t>PROPOSED</a:t>
            </a:r>
            <a:r>
              <a:rPr dirty="0" sz="2600" spc="-1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SOLUTIONS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716600" y="2650877"/>
            <a:ext cx="4832350" cy="63747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97155">
              <a:lnSpc>
                <a:spcPts val="3070"/>
              </a:lnSpc>
              <a:spcBef>
                <a:spcPts val="240"/>
              </a:spcBef>
            </a:pPr>
            <a:r>
              <a:rPr dirty="0" sz="2600">
                <a:latin typeface="Calibri"/>
                <a:cs typeface="Calibri"/>
              </a:rPr>
              <a:t>Generate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synthetic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DPRs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GPT-</a:t>
            </a:r>
            <a:r>
              <a:rPr dirty="0" sz="2600" b="1">
                <a:latin typeface="Calibri"/>
                <a:cs typeface="Calibri"/>
              </a:rPr>
              <a:t>assisted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labeling</a:t>
            </a:r>
            <a:r>
              <a:rPr dirty="0" sz="2600">
                <a:latin typeface="Calibri"/>
                <a:cs typeface="Calibri"/>
              </a:rPr>
              <a:t>,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validate </a:t>
            </a:r>
            <a:r>
              <a:rPr dirty="0" sz="2600">
                <a:latin typeface="Calibri"/>
                <a:cs typeface="Calibri"/>
              </a:rPr>
              <a:t>outputs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through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expert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annotation cycles.</a:t>
            </a:r>
            <a:endParaRPr sz="2600">
              <a:latin typeface="Calibri"/>
              <a:cs typeface="Calibri"/>
            </a:endParaRPr>
          </a:p>
          <a:p>
            <a:pPr marL="12700" marR="182245">
              <a:lnSpc>
                <a:spcPts val="3080"/>
              </a:lnSpc>
              <a:spcBef>
                <a:spcPts val="1290"/>
              </a:spcBef>
            </a:pPr>
            <a:r>
              <a:rPr dirty="0" sz="2600">
                <a:latin typeface="Calibri"/>
                <a:cs typeface="Calibri"/>
              </a:rPr>
              <a:t>Combine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OCR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with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layout-</a:t>
            </a:r>
            <a:r>
              <a:rPr dirty="0" sz="2600" spc="-10" b="1">
                <a:latin typeface="Calibri"/>
                <a:cs typeface="Calibri"/>
              </a:rPr>
              <a:t>aware </a:t>
            </a:r>
            <a:r>
              <a:rPr dirty="0" sz="2600" b="1">
                <a:latin typeface="Calibri"/>
                <a:cs typeface="Calibri"/>
              </a:rPr>
              <a:t>parsing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tools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implement </a:t>
            </a:r>
            <a:r>
              <a:rPr dirty="0" sz="2600">
                <a:latin typeface="Calibri"/>
                <a:cs typeface="Calibri"/>
              </a:rPr>
              <a:t>adaptive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preprocessing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diverse </a:t>
            </a:r>
            <a:r>
              <a:rPr dirty="0" sz="2600">
                <a:latin typeface="Calibri"/>
                <a:cs typeface="Calibri"/>
              </a:rPr>
              <a:t>DPR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formats.</a:t>
            </a:r>
            <a:endParaRPr sz="2600">
              <a:latin typeface="Calibri"/>
              <a:cs typeface="Calibri"/>
            </a:endParaRPr>
          </a:p>
          <a:p>
            <a:pPr marL="12700" marR="501015">
              <a:lnSpc>
                <a:spcPts val="3080"/>
              </a:lnSpc>
              <a:spcBef>
                <a:spcPts val="1255"/>
              </a:spcBef>
            </a:pPr>
            <a:r>
              <a:rPr dirty="0" sz="2600">
                <a:latin typeface="Calibri"/>
                <a:cs typeface="Calibri"/>
              </a:rPr>
              <a:t>Utilize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parameter-</a:t>
            </a:r>
            <a:r>
              <a:rPr dirty="0" sz="2600" b="1">
                <a:latin typeface="Calibri"/>
                <a:cs typeface="Calibri"/>
              </a:rPr>
              <a:t>efficient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fine-</a:t>
            </a:r>
            <a:r>
              <a:rPr dirty="0" sz="2600" b="1">
                <a:latin typeface="Calibri"/>
                <a:cs typeface="Calibri"/>
              </a:rPr>
              <a:t>tuning</a:t>
            </a:r>
            <a:r>
              <a:rPr dirty="0" sz="2600" spc="-10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(LoRA/PEFT)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 spc="-10" b="1">
                <a:latin typeface="Calibri"/>
                <a:cs typeface="Calibri"/>
              </a:rPr>
              <a:t>quantization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3070"/>
              </a:lnSpc>
              <a:spcBef>
                <a:spcPts val="1265"/>
              </a:spcBef>
            </a:pPr>
            <a:r>
              <a:rPr dirty="0" sz="2600" spc="-25">
                <a:latin typeface="Calibri"/>
                <a:cs typeface="Calibri"/>
              </a:rPr>
              <a:t>Two-</a:t>
            </a:r>
            <a:r>
              <a:rPr dirty="0" sz="2600">
                <a:latin typeface="Calibri"/>
                <a:cs typeface="Calibri"/>
              </a:rPr>
              <a:t>tier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LLM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system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trained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such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flags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and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risk </a:t>
            </a:r>
            <a:r>
              <a:rPr dirty="0" sz="2600" b="1">
                <a:latin typeface="Calibri"/>
                <a:cs typeface="Calibri"/>
              </a:rPr>
              <a:t>factors</a:t>
            </a:r>
            <a:r>
              <a:rPr dirty="0" sz="2600" spc="-9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are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provided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with </a:t>
            </a:r>
            <a:r>
              <a:rPr dirty="0" sz="2600" spc="-10" b="1">
                <a:latin typeface="Calibri"/>
                <a:cs typeface="Calibri"/>
              </a:rPr>
              <a:t>justification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6928" rIns="0" bIns="0" rtlCol="0" vert="horz">
            <a:spAutoFit/>
          </a:bodyPr>
          <a:lstStyle/>
          <a:p>
            <a:pPr marL="2468245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IMPACT</a:t>
            </a:r>
            <a:r>
              <a:rPr dirty="0" spc="10"/>
              <a:t> </a:t>
            </a:r>
            <a:r>
              <a:rPr dirty="0" spc="140"/>
              <a:t>AND</a:t>
            </a:r>
            <a:r>
              <a:rPr dirty="0" spc="10"/>
              <a:t> </a:t>
            </a:r>
            <a:r>
              <a:rPr dirty="0" spc="35"/>
              <a:t>BENEFITS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65"/>
              </a:lnSpc>
            </a:pPr>
            <a:r>
              <a:rPr dirty="0" sz="2700" spc="-25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dirty="0" sz="2700" spc="-20">
                <a:latin typeface="Calibri"/>
                <a:cs typeface="Calibri"/>
              </a:rPr>
              <a:t>Your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dirty="0" sz="2700" spc="-1250" b="1">
                <a:latin typeface="Calibri"/>
                <a:cs typeface="Calibri"/>
              </a:rPr>
              <a:t>N</a:t>
            </a:r>
            <a:r>
              <a:rPr dirty="0" baseline="2057" sz="4050" spc="-780">
                <a:latin typeface="Calibri"/>
                <a:cs typeface="Calibri"/>
              </a:rPr>
              <a:t>N</a:t>
            </a:r>
            <a:r>
              <a:rPr dirty="0" sz="2700" spc="-825" b="1">
                <a:latin typeface="Calibri"/>
                <a:cs typeface="Calibri"/>
              </a:rPr>
              <a:t>E</a:t>
            </a:r>
            <a:r>
              <a:rPr dirty="0" baseline="2057" sz="4050" spc="-742">
                <a:latin typeface="Calibri"/>
                <a:cs typeface="Calibri"/>
              </a:rPr>
              <a:t>a</a:t>
            </a:r>
            <a:r>
              <a:rPr dirty="0" sz="2700" spc="-1030" b="1">
                <a:latin typeface="Calibri"/>
                <a:cs typeface="Calibri"/>
              </a:rPr>
              <a:t>X</a:t>
            </a:r>
            <a:r>
              <a:rPr dirty="0" baseline="2057" sz="4050" spc="-1770">
                <a:latin typeface="Calibri"/>
                <a:cs typeface="Calibri"/>
              </a:rPr>
              <a:t>m</a:t>
            </a:r>
            <a:r>
              <a:rPr dirty="0" sz="2700" spc="-620" b="1">
                <a:latin typeface="Calibri"/>
                <a:cs typeface="Calibri"/>
              </a:rPr>
              <a:t>U</a:t>
            </a:r>
            <a:r>
              <a:rPr dirty="0" baseline="2057" sz="4050" spc="-1117">
                <a:latin typeface="Calibri"/>
                <a:cs typeface="Calibri"/>
              </a:rPr>
              <a:t>e</a:t>
            </a:r>
            <a:r>
              <a:rPr dirty="0" sz="2700" spc="-10" b="1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37509" y="2019365"/>
            <a:ext cx="17324705" cy="7277100"/>
            <a:chOff x="437509" y="2019365"/>
            <a:chExt cx="17324705" cy="72771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1317" y="2958362"/>
              <a:ext cx="5381624" cy="53816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5609" y="2057465"/>
              <a:ext cx="5972175" cy="7200900"/>
            </a:xfrm>
            <a:custGeom>
              <a:avLst/>
              <a:gdLst/>
              <a:ahLst/>
              <a:cxnLst/>
              <a:rect l="l" t="t" r="r" b="b"/>
              <a:pathLst>
                <a:path w="5972175" h="7200900">
                  <a:moveTo>
                    <a:pt x="5972174" y="7200766"/>
                  </a:moveTo>
                  <a:lnTo>
                    <a:pt x="0" y="7200766"/>
                  </a:lnTo>
                  <a:lnTo>
                    <a:pt x="0" y="0"/>
                  </a:lnTo>
                  <a:lnTo>
                    <a:pt x="5972174" y="0"/>
                  </a:lnTo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751405" y="2057465"/>
              <a:ext cx="5972175" cy="7200900"/>
            </a:xfrm>
            <a:custGeom>
              <a:avLst/>
              <a:gdLst/>
              <a:ahLst/>
              <a:cxnLst/>
              <a:rect l="l" t="t" r="r" b="b"/>
              <a:pathLst>
                <a:path w="5972175" h="7200900">
                  <a:moveTo>
                    <a:pt x="5972174" y="7200766"/>
                  </a:moveTo>
                  <a:lnTo>
                    <a:pt x="0" y="7200766"/>
                  </a:lnTo>
                  <a:lnTo>
                    <a:pt x="0" y="0"/>
                  </a:lnTo>
                  <a:lnTo>
                    <a:pt x="5972174" y="0"/>
                  </a:lnTo>
                </a:path>
              </a:pathLst>
            </a:custGeom>
            <a:ln w="76199">
              <a:solidFill>
                <a:srgbClr val="006FB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3552653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4638502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5724352"/>
              <a:ext cx="76200" cy="761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6448252"/>
              <a:ext cx="76200" cy="76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466" y="7896052"/>
              <a:ext cx="76200" cy="761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13709" y="2320939"/>
            <a:ext cx="5934075" cy="647827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329815" marR="664210" indent="-1692910">
              <a:lnSpc>
                <a:spcPts val="3229"/>
              </a:lnSpc>
              <a:spcBef>
                <a:spcPts val="215"/>
              </a:spcBef>
            </a:pPr>
            <a:r>
              <a:rPr dirty="0" sz="2700" b="1">
                <a:latin typeface="Calibri"/>
                <a:cs typeface="Calibri"/>
              </a:rPr>
              <a:t>POTENTIAL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AND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IMPACT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OF</a:t>
            </a:r>
            <a:r>
              <a:rPr dirty="0" sz="2700" spc="-65" b="1">
                <a:latin typeface="Calibri"/>
                <a:cs typeface="Calibri"/>
              </a:rPr>
              <a:t> </a:t>
            </a:r>
            <a:r>
              <a:rPr dirty="0" sz="2700" spc="-25" b="1">
                <a:latin typeface="Calibri"/>
                <a:cs typeface="Calibri"/>
              </a:rPr>
              <a:t>THE </a:t>
            </a:r>
            <a:r>
              <a:rPr dirty="0" sz="2700" spc="-10" b="1">
                <a:latin typeface="Calibri"/>
                <a:cs typeface="Calibri"/>
              </a:rPr>
              <a:t>PROJECT</a:t>
            </a:r>
            <a:endParaRPr sz="2700">
              <a:latin typeface="Calibri"/>
              <a:cs typeface="Calibri"/>
            </a:endParaRPr>
          </a:p>
          <a:p>
            <a:pPr marL="510540" marR="284480">
              <a:lnSpc>
                <a:spcPts val="2850"/>
              </a:lnSpc>
              <a:spcBef>
                <a:spcPts val="1565"/>
              </a:spcBef>
            </a:pPr>
            <a:r>
              <a:rPr dirty="0" sz="2400">
                <a:latin typeface="Calibri"/>
                <a:cs typeface="Calibri"/>
              </a:rPr>
              <a:t>Enables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faster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more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reliable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DPR </a:t>
            </a:r>
            <a:r>
              <a:rPr dirty="0" sz="2400">
                <a:latin typeface="Calibri"/>
                <a:cs typeface="Calibri"/>
              </a:rPr>
              <a:t>assessments,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reducing</a:t>
            </a:r>
            <a:r>
              <a:rPr dirty="0" sz="2400" spc="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manual</a:t>
            </a:r>
            <a:r>
              <a:rPr dirty="0" sz="2400" spc="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workload </a:t>
            </a:r>
            <a:r>
              <a:rPr dirty="0" sz="2400" b="1">
                <a:latin typeface="Calibri"/>
                <a:cs typeface="Calibri"/>
              </a:rPr>
              <a:t>for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officials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510540" marR="630555">
              <a:lnSpc>
                <a:spcPts val="2850"/>
              </a:lnSpc>
            </a:pPr>
            <a:r>
              <a:rPr dirty="0" sz="2400">
                <a:latin typeface="Calibri"/>
                <a:cs typeface="Calibri"/>
              </a:rPr>
              <a:t>Provides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early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detection of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cos</a:t>
            </a:r>
            <a:r>
              <a:rPr dirty="0" sz="2400" spc="-10">
                <a:latin typeface="Calibri"/>
                <a:cs typeface="Calibri"/>
              </a:rPr>
              <a:t>t, </a:t>
            </a:r>
            <a:r>
              <a:rPr dirty="0" sz="2400" b="1">
                <a:latin typeface="Calibri"/>
                <a:cs typeface="Calibri"/>
              </a:rPr>
              <a:t>schedule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compliance</a:t>
            </a:r>
            <a:r>
              <a:rPr dirty="0" sz="2400" spc="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risks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across </a:t>
            </a:r>
            <a:r>
              <a:rPr dirty="0" sz="2400">
                <a:latin typeface="Calibri"/>
                <a:cs typeface="Calibri"/>
              </a:rPr>
              <a:t>development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projects.</a:t>
            </a:r>
            <a:endParaRPr sz="2400">
              <a:latin typeface="Calibri"/>
              <a:cs typeface="Calibri"/>
            </a:endParaRPr>
          </a:p>
          <a:p>
            <a:pPr marL="510540" marR="587375">
              <a:lnSpc>
                <a:spcPts val="2850"/>
              </a:lnSpc>
            </a:pP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transparent,</a:t>
            </a:r>
            <a:r>
              <a:rPr dirty="0" sz="2400" spc="-20" b="1">
                <a:latin typeface="Calibri"/>
                <a:cs typeface="Calibri"/>
              </a:rPr>
              <a:t> data-</a:t>
            </a:r>
            <a:r>
              <a:rPr dirty="0" sz="2400" spc="-10" b="1">
                <a:latin typeface="Calibri"/>
                <a:cs typeface="Calibri"/>
              </a:rPr>
              <a:t>driven </a:t>
            </a:r>
            <a:r>
              <a:rPr dirty="0" sz="2400" b="1">
                <a:latin typeface="Calibri"/>
                <a:cs typeface="Calibri"/>
              </a:rPr>
              <a:t>decision-making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approvals. </a:t>
            </a:r>
            <a:r>
              <a:rPr dirty="0" sz="2400">
                <a:latin typeface="Calibri"/>
                <a:cs typeface="Calibri"/>
              </a:rPr>
              <a:t>Helps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MDoNER</a:t>
            </a:r>
            <a:r>
              <a:rPr dirty="0" sz="2400" spc="2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identify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weak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or </a:t>
            </a:r>
            <a:r>
              <a:rPr dirty="0" sz="2400" b="1">
                <a:latin typeface="Calibri"/>
                <a:cs typeface="Calibri"/>
              </a:rPr>
              <a:t>inconsistent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DPRs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before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funding, </a:t>
            </a:r>
            <a:r>
              <a:rPr dirty="0" sz="2400">
                <a:latin typeface="Calibri"/>
                <a:cs typeface="Calibri"/>
              </a:rPr>
              <a:t>improving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efficiency of </a:t>
            </a:r>
            <a:r>
              <a:rPr dirty="0" sz="2400" spc="-10">
                <a:latin typeface="Calibri"/>
                <a:cs typeface="Calibri"/>
              </a:rPr>
              <a:t>resource allocation.</a:t>
            </a:r>
            <a:endParaRPr sz="2400">
              <a:latin typeface="Calibri"/>
              <a:cs typeface="Calibri"/>
            </a:endParaRPr>
          </a:p>
          <a:p>
            <a:pPr marL="510540" marR="1146175">
              <a:lnSpc>
                <a:spcPts val="2850"/>
              </a:lnSpc>
            </a:pPr>
            <a:r>
              <a:rPr dirty="0" sz="2400">
                <a:latin typeface="Calibri"/>
                <a:cs typeface="Calibri"/>
              </a:rPr>
              <a:t>Creates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scalable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AI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framework </a:t>
            </a:r>
            <a:r>
              <a:rPr dirty="0" sz="2400">
                <a:latin typeface="Calibri"/>
                <a:cs typeface="Calibri"/>
              </a:rPr>
              <a:t>adaptable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ministries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government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departments.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170057" y="3110762"/>
            <a:ext cx="85725" cy="4476750"/>
            <a:chOff x="12170057" y="3110762"/>
            <a:chExt cx="85725" cy="447675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3110762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4834787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6168287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0057" y="7501787"/>
              <a:ext cx="85725" cy="857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789505" y="2155375"/>
            <a:ext cx="5934075" cy="6720840"/>
          </a:xfrm>
          <a:prstGeom prst="rect">
            <a:avLst/>
          </a:prstGeom>
        </p:spPr>
        <p:txBody>
          <a:bodyPr wrap="square" lIns="0" tIns="17780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1400"/>
              </a:spcBef>
            </a:pPr>
            <a:r>
              <a:rPr dirty="0" sz="2700" b="1">
                <a:latin typeface="Calibri"/>
                <a:cs typeface="Calibri"/>
              </a:rPr>
              <a:t>BENEFITS</a:t>
            </a:r>
            <a:r>
              <a:rPr dirty="0" sz="2700" spc="-3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OF</a:t>
            </a:r>
            <a:r>
              <a:rPr dirty="0" sz="2700" spc="-35" b="1">
                <a:latin typeface="Calibri"/>
                <a:cs typeface="Calibri"/>
              </a:rPr>
              <a:t> </a:t>
            </a:r>
            <a:r>
              <a:rPr dirty="0" sz="2700" b="1">
                <a:latin typeface="Calibri"/>
                <a:cs typeface="Calibri"/>
              </a:rPr>
              <a:t>THE</a:t>
            </a:r>
            <a:r>
              <a:rPr dirty="0" sz="2700" spc="-30" b="1"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SOLUTION</a:t>
            </a:r>
            <a:endParaRPr sz="2700">
              <a:latin typeface="Calibri"/>
              <a:cs typeface="Calibri"/>
            </a:endParaRPr>
          </a:p>
          <a:p>
            <a:pPr marL="608330" marR="570865">
              <a:lnSpc>
                <a:spcPts val="3080"/>
              </a:lnSpc>
              <a:spcBef>
                <a:spcPts val="1390"/>
              </a:spcBef>
            </a:pPr>
            <a:r>
              <a:rPr dirty="0" sz="2600" b="1">
                <a:latin typeface="Calibri"/>
                <a:cs typeface="Calibri"/>
              </a:rPr>
              <a:t>Social</a:t>
            </a:r>
            <a:r>
              <a:rPr dirty="0" sz="2600" spc="-9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benefit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Accelerates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project execution,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fostering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regional development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enhancing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public welfare.</a:t>
            </a:r>
            <a:endParaRPr sz="2600">
              <a:latin typeface="Calibri"/>
              <a:cs typeface="Calibri"/>
            </a:endParaRPr>
          </a:p>
          <a:p>
            <a:pPr marL="608330" marR="344805">
              <a:lnSpc>
                <a:spcPts val="3080"/>
              </a:lnSpc>
              <a:spcBef>
                <a:spcPts val="1255"/>
              </a:spcBef>
            </a:pPr>
            <a:r>
              <a:rPr dirty="0" sz="2600" b="1">
                <a:latin typeface="Calibri"/>
                <a:cs typeface="Calibri"/>
              </a:rPr>
              <a:t>Economic</a:t>
            </a:r>
            <a:r>
              <a:rPr dirty="0" sz="2600" spc="-10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benefit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Minimizes</a:t>
            </a:r>
            <a:r>
              <a:rPr dirty="0" sz="2600" spc="-10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budget </a:t>
            </a:r>
            <a:r>
              <a:rPr dirty="0" sz="2600" b="1">
                <a:latin typeface="Calibri"/>
                <a:cs typeface="Calibri"/>
              </a:rPr>
              <a:t>overruns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resource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inefficiencies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early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risk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identification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608330" marR="293370">
              <a:lnSpc>
                <a:spcPts val="3070"/>
              </a:lnSpc>
              <a:spcBef>
                <a:spcPts val="1270"/>
              </a:spcBef>
            </a:pPr>
            <a:r>
              <a:rPr dirty="0" sz="2600" spc="-10" b="1">
                <a:latin typeface="Calibri"/>
                <a:cs typeface="Calibri"/>
              </a:rPr>
              <a:t>Environmental</a:t>
            </a:r>
            <a:r>
              <a:rPr dirty="0" sz="2600" spc="-13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benefit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Enables </a:t>
            </a:r>
            <a:r>
              <a:rPr dirty="0" sz="2600">
                <a:latin typeface="Calibri"/>
                <a:cs typeface="Calibri"/>
              </a:rPr>
              <a:t>prompt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detection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projects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lacking </a:t>
            </a:r>
            <a:r>
              <a:rPr dirty="0" sz="2600" b="1">
                <a:latin typeface="Calibri"/>
                <a:cs typeface="Calibri"/>
              </a:rPr>
              <a:t>necessary</a:t>
            </a:r>
            <a:r>
              <a:rPr dirty="0" sz="2600" spc="-7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environmental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clearances</a:t>
            </a:r>
            <a:r>
              <a:rPr dirty="0" sz="2600" spc="-1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608330" marR="498475">
              <a:lnSpc>
                <a:spcPts val="3070"/>
              </a:lnSpc>
              <a:spcBef>
                <a:spcPts val="1290"/>
              </a:spcBef>
            </a:pPr>
            <a:r>
              <a:rPr dirty="0" sz="2600" b="1">
                <a:latin typeface="Calibri"/>
                <a:cs typeface="Calibri"/>
              </a:rPr>
              <a:t>Financial</a:t>
            </a:r>
            <a:r>
              <a:rPr dirty="0" sz="2600" spc="-114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benefit</a:t>
            </a:r>
            <a:r>
              <a:rPr dirty="0" sz="2600">
                <a:latin typeface="Calibri"/>
                <a:cs typeface="Calibri"/>
              </a:rPr>
              <a:t>: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Enhances </a:t>
            </a:r>
            <a:r>
              <a:rPr dirty="0" sz="2600" spc="-10" b="1">
                <a:latin typeface="Calibri"/>
                <a:cs typeface="Calibri"/>
              </a:rPr>
              <a:t>accountability</a:t>
            </a:r>
            <a:r>
              <a:rPr dirty="0" sz="2600" spc="-10">
                <a:latin typeface="Calibri"/>
                <a:cs typeface="Calibri"/>
              </a:rPr>
              <a:t>,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audit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preparedness</a:t>
            </a:r>
            <a:r>
              <a:rPr dirty="0" sz="2600" spc="-10">
                <a:latin typeface="Calibri"/>
                <a:cs typeface="Calibri"/>
              </a:rPr>
              <a:t>,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cost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transparency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DPR </a:t>
            </a:r>
            <a:r>
              <a:rPr dirty="0" sz="2600" spc="-10">
                <a:latin typeface="Calibri"/>
                <a:cs typeface="Calibri"/>
              </a:rPr>
              <a:t>assessments.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6928" rIns="0" bIns="0" rtlCol="0" vert="horz">
            <a:spAutoFit/>
          </a:bodyPr>
          <a:lstStyle/>
          <a:p>
            <a:pPr marL="126365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100"/>
              <a:t>  </a:t>
            </a:r>
            <a:r>
              <a:rPr dirty="0" spc="140"/>
              <a:t>AND</a:t>
            </a:r>
            <a:r>
              <a:rPr dirty="0" spc="100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475609" y="359318"/>
            <a:ext cx="1916430" cy="1248410"/>
          </a:xfrm>
          <a:custGeom>
            <a:avLst/>
            <a:gdLst/>
            <a:ahLst/>
            <a:cxnLst/>
            <a:rect l="l" t="t" r="r" b="b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08073" y="606969"/>
            <a:ext cx="337820" cy="342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65"/>
              </a:lnSpc>
            </a:pPr>
            <a:r>
              <a:rPr dirty="0" sz="2700" spc="-25">
                <a:latin typeface="Calibri"/>
                <a:cs typeface="Calibri"/>
              </a:rPr>
              <a:t>Te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2049" y="85645"/>
            <a:ext cx="3313652" cy="168430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75609" y="359318"/>
            <a:ext cx="1916430" cy="1248410"/>
            <a:chOff x="475609" y="359318"/>
            <a:chExt cx="1916430" cy="1248410"/>
          </a:xfrm>
        </p:grpSpPr>
        <p:sp>
          <p:nvSpPr>
            <p:cNvPr id="7" name="object 7"/>
            <p:cNvSpPr/>
            <p:nvPr/>
          </p:nvSpPr>
          <p:spPr>
            <a:xfrm>
              <a:off x="494659" y="378368"/>
              <a:ext cx="1878330" cy="1211580"/>
            </a:xfrm>
            <a:custGeom>
              <a:avLst/>
              <a:gdLst/>
              <a:ahLst/>
              <a:cxnLst/>
              <a:rect l="l" t="t" r="r" b="b"/>
              <a:pathLst>
                <a:path w="1878330" h="1211580">
                  <a:moveTo>
                    <a:pt x="938879" y="1211008"/>
                  </a:moveTo>
                  <a:lnTo>
                    <a:pt x="881684" y="1209903"/>
                  </a:lnTo>
                  <a:lnTo>
                    <a:pt x="825395" y="1206630"/>
                  </a:lnTo>
                  <a:lnTo>
                    <a:pt x="770111" y="1201253"/>
                  </a:lnTo>
                  <a:lnTo>
                    <a:pt x="715930" y="1193834"/>
                  </a:lnTo>
                  <a:lnTo>
                    <a:pt x="662949" y="1184438"/>
                  </a:lnTo>
                  <a:lnTo>
                    <a:pt x="611268" y="1173127"/>
                  </a:lnTo>
                  <a:lnTo>
                    <a:pt x="560985" y="1159966"/>
                  </a:lnTo>
                  <a:lnTo>
                    <a:pt x="512197" y="1145016"/>
                  </a:lnTo>
                  <a:lnTo>
                    <a:pt x="465003" y="1128342"/>
                  </a:lnTo>
                  <a:lnTo>
                    <a:pt x="419501" y="1110006"/>
                  </a:lnTo>
                  <a:lnTo>
                    <a:pt x="375789" y="1090073"/>
                  </a:lnTo>
                  <a:lnTo>
                    <a:pt x="333966" y="1068605"/>
                  </a:lnTo>
                  <a:lnTo>
                    <a:pt x="294129" y="1045666"/>
                  </a:lnTo>
                  <a:lnTo>
                    <a:pt x="256377" y="1021319"/>
                  </a:lnTo>
                  <a:lnTo>
                    <a:pt x="220808" y="995627"/>
                  </a:lnTo>
                  <a:lnTo>
                    <a:pt x="187520" y="968655"/>
                  </a:lnTo>
                  <a:lnTo>
                    <a:pt x="156612" y="940464"/>
                  </a:lnTo>
                  <a:lnTo>
                    <a:pt x="128181" y="911119"/>
                  </a:lnTo>
                  <a:lnTo>
                    <a:pt x="102326" y="880682"/>
                  </a:lnTo>
                  <a:lnTo>
                    <a:pt x="79145" y="849218"/>
                  </a:lnTo>
                  <a:lnTo>
                    <a:pt x="58737" y="816789"/>
                  </a:lnTo>
                  <a:lnTo>
                    <a:pt x="26629" y="749290"/>
                  </a:lnTo>
                  <a:lnTo>
                    <a:pt x="6788" y="678693"/>
                  </a:lnTo>
                  <a:lnTo>
                    <a:pt x="0" y="605504"/>
                  </a:lnTo>
                  <a:lnTo>
                    <a:pt x="1713" y="568617"/>
                  </a:lnTo>
                  <a:lnTo>
                    <a:pt x="15126" y="496660"/>
                  </a:lnTo>
                  <a:lnTo>
                    <a:pt x="41198" y="427549"/>
                  </a:lnTo>
                  <a:lnTo>
                    <a:pt x="79145" y="361790"/>
                  </a:lnTo>
                  <a:lnTo>
                    <a:pt x="102326" y="330325"/>
                  </a:lnTo>
                  <a:lnTo>
                    <a:pt x="128181" y="299889"/>
                  </a:lnTo>
                  <a:lnTo>
                    <a:pt x="156612" y="270544"/>
                  </a:lnTo>
                  <a:lnTo>
                    <a:pt x="187520" y="242353"/>
                  </a:lnTo>
                  <a:lnTo>
                    <a:pt x="220808" y="215380"/>
                  </a:lnTo>
                  <a:lnTo>
                    <a:pt x="256377" y="189689"/>
                  </a:lnTo>
                  <a:lnTo>
                    <a:pt x="294129" y="165342"/>
                  </a:lnTo>
                  <a:lnTo>
                    <a:pt x="333966" y="142403"/>
                  </a:lnTo>
                  <a:lnTo>
                    <a:pt x="375789" y="120935"/>
                  </a:lnTo>
                  <a:lnTo>
                    <a:pt x="419501" y="101001"/>
                  </a:lnTo>
                  <a:lnTo>
                    <a:pt x="465003" y="82666"/>
                  </a:lnTo>
                  <a:lnTo>
                    <a:pt x="512197" y="65992"/>
                  </a:lnTo>
                  <a:lnTo>
                    <a:pt x="560985" y="51042"/>
                  </a:lnTo>
                  <a:lnTo>
                    <a:pt x="611268" y="37880"/>
                  </a:lnTo>
                  <a:lnTo>
                    <a:pt x="662949" y="26569"/>
                  </a:lnTo>
                  <a:lnTo>
                    <a:pt x="715930" y="17173"/>
                  </a:lnTo>
                  <a:lnTo>
                    <a:pt x="770111" y="9755"/>
                  </a:lnTo>
                  <a:lnTo>
                    <a:pt x="825395" y="4377"/>
                  </a:lnTo>
                  <a:lnTo>
                    <a:pt x="881684" y="1105"/>
                  </a:lnTo>
                  <a:lnTo>
                    <a:pt x="938879" y="0"/>
                  </a:lnTo>
                  <a:lnTo>
                    <a:pt x="996074" y="1105"/>
                  </a:lnTo>
                  <a:lnTo>
                    <a:pt x="1052363" y="4377"/>
                  </a:lnTo>
                  <a:lnTo>
                    <a:pt x="1107647" y="9755"/>
                  </a:lnTo>
                  <a:lnTo>
                    <a:pt x="1161828" y="17173"/>
                  </a:lnTo>
                  <a:lnTo>
                    <a:pt x="1214808" y="26569"/>
                  </a:lnTo>
                  <a:lnTo>
                    <a:pt x="1266489" y="37880"/>
                  </a:lnTo>
                  <a:lnTo>
                    <a:pt x="1316773" y="51042"/>
                  </a:lnTo>
                  <a:lnTo>
                    <a:pt x="1365560" y="65992"/>
                  </a:lnTo>
                  <a:lnTo>
                    <a:pt x="1412755" y="82666"/>
                  </a:lnTo>
                  <a:lnTo>
                    <a:pt x="1458257" y="101001"/>
                  </a:lnTo>
                  <a:lnTo>
                    <a:pt x="1501968" y="120935"/>
                  </a:lnTo>
                  <a:lnTo>
                    <a:pt x="1543792" y="142403"/>
                  </a:lnTo>
                  <a:lnTo>
                    <a:pt x="1583629" y="165342"/>
                  </a:lnTo>
                  <a:lnTo>
                    <a:pt x="1621380" y="189689"/>
                  </a:lnTo>
                  <a:lnTo>
                    <a:pt x="1656949" y="215380"/>
                  </a:lnTo>
                  <a:lnTo>
                    <a:pt x="1690237" y="242353"/>
                  </a:lnTo>
                  <a:lnTo>
                    <a:pt x="1721145" y="270544"/>
                  </a:lnTo>
                  <a:lnTo>
                    <a:pt x="1749576" y="299889"/>
                  </a:lnTo>
                  <a:lnTo>
                    <a:pt x="1775431" y="330325"/>
                  </a:lnTo>
                  <a:lnTo>
                    <a:pt x="1798612" y="361790"/>
                  </a:lnTo>
                  <a:lnTo>
                    <a:pt x="1819021" y="394219"/>
                  </a:lnTo>
                  <a:lnTo>
                    <a:pt x="1851129" y="461717"/>
                  </a:lnTo>
                  <a:lnTo>
                    <a:pt x="1870970" y="532315"/>
                  </a:lnTo>
                  <a:lnTo>
                    <a:pt x="1877758" y="605504"/>
                  </a:lnTo>
                  <a:lnTo>
                    <a:pt x="1876045" y="642391"/>
                  </a:lnTo>
                  <a:lnTo>
                    <a:pt x="1862632" y="714347"/>
                  </a:lnTo>
                  <a:lnTo>
                    <a:pt x="1836559" y="783458"/>
                  </a:lnTo>
                  <a:lnTo>
                    <a:pt x="1798612" y="849218"/>
                  </a:lnTo>
                  <a:lnTo>
                    <a:pt x="1775431" y="880682"/>
                  </a:lnTo>
                  <a:lnTo>
                    <a:pt x="1749576" y="911119"/>
                  </a:lnTo>
                  <a:lnTo>
                    <a:pt x="1721145" y="940464"/>
                  </a:lnTo>
                  <a:lnTo>
                    <a:pt x="1690237" y="968655"/>
                  </a:lnTo>
                  <a:lnTo>
                    <a:pt x="1656949" y="995627"/>
                  </a:lnTo>
                  <a:lnTo>
                    <a:pt x="1621380" y="1021319"/>
                  </a:lnTo>
                  <a:lnTo>
                    <a:pt x="1583629" y="1045666"/>
                  </a:lnTo>
                  <a:lnTo>
                    <a:pt x="1543792" y="1068605"/>
                  </a:lnTo>
                  <a:lnTo>
                    <a:pt x="1501968" y="1090073"/>
                  </a:lnTo>
                  <a:lnTo>
                    <a:pt x="1458257" y="1110006"/>
                  </a:lnTo>
                  <a:lnTo>
                    <a:pt x="1412755" y="1128342"/>
                  </a:lnTo>
                  <a:lnTo>
                    <a:pt x="1365560" y="1145016"/>
                  </a:lnTo>
                  <a:lnTo>
                    <a:pt x="1316773" y="1159966"/>
                  </a:lnTo>
                  <a:lnTo>
                    <a:pt x="1266489" y="1173127"/>
                  </a:lnTo>
                  <a:lnTo>
                    <a:pt x="1214808" y="1184438"/>
                  </a:lnTo>
                  <a:lnTo>
                    <a:pt x="1161828" y="1193834"/>
                  </a:lnTo>
                  <a:lnTo>
                    <a:pt x="1107647" y="1201253"/>
                  </a:lnTo>
                  <a:lnTo>
                    <a:pt x="1052363" y="1206630"/>
                  </a:lnTo>
                  <a:lnTo>
                    <a:pt x="996074" y="1209903"/>
                  </a:lnTo>
                  <a:lnTo>
                    <a:pt x="938879" y="1211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5609" y="359318"/>
              <a:ext cx="1916430" cy="1248410"/>
            </a:xfrm>
            <a:custGeom>
              <a:avLst/>
              <a:gdLst/>
              <a:ahLst/>
              <a:cxnLst/>
              <a:rect l="l" t="t" r="r" b="b"/>
              <a:pathLst>
                <a:path w="1916430" h="1248410">
                  <a:moveTo>
                    <a:pt x="0" y="623569"/>
                  </a:moveTo>
                  <a:lnTo>
                    <a:pt x="1662" y="588009"/>
                  </a:lnTo>
                  <a:lnTo>
                    <a:pt x="1781" y="585469"/>
                  </a:lnTo>
                  <a:lnTo>
                    <a:pt x="7054" y="547369"/>
                  </a:lnTo>
                  <a:lnTo>
                    <a:pt x="15710" y="509269"/>
                  </a:lnTo>
                  <a:lnTo>
                    <a:pt x="42741" y="438149"/>
                  </a:lnTo>
                  <a:lnTo>
                    <a:pt x="60899" y="403859"/>
                  </a:lnTo>
                  <a:lnTo>
                    <a:pt x="82010" y="369569"/>
                  </a:lnTo>
                  <a:lnTo>
                    <a:pt x="105964" y="336549"/>
                  </a:lnTo>
                  <a:lnTo>
                    <a:pt x="132655" y="306069"/>
                  </a:lnTo>
                  <a:lnTo>
                    <a:pt x="161973" y="275589"/>
                  </a:lnTo>
                  <a:lnTo>
                    <a:pt x="193811" y="246379"/>
                  </a:lnTo>
                  <a:lnTo>
                    <a:pt x="228062" y="218439"/>
                  </a:lnTo>
                  <a:lnTo>
                    <a:pt x="264617" y="193039"/>
                  </a:lnTo>
                  <a:lnTo>
                    <a:pt x="303369" y="167639"/>
                  </a:lnTo>
                  <a:lnTo>
                    <a:pt x="344209" y="143509"/>
                  </a:lnTo>
                  <a:lnTo>
                    <a:pt x="387030" y="121919"/>
                  </a:lnTo>
                  <a:lnTo>
                    <a:pt x="431724" y="101599"/>
                  </a:lnTo>
                  <a:lnTo>
                    <a:pt x="478183" y="82549"/>
                  </a:lnTo>
                  <a:lnTo>
                    <a:pt x="526298" y="66039"/>
                  </a:lnTo>
                  <a:lnTo>
                    <a:pt x="575963" y="50799"/>
                  </a:lnTo>
                  <a:lnTo>
                    <a:pt x="627069" y="38099"/>
                  </a:lnTo>
                  <a:lnTo>
                    <a:pt x="679509" y="26669"/>
                  </a:lnTo>
                  <a:lnTo>
                    <a:pt x="733173" y="16509"/>
                  </a:lnTo>
                  <a:lnTo>
                    <a:pt x="787956" y="8889"/>
                  </a:lnTo>
                  <a:lnTo>
                    <a:pt x="843748" y="3809"/>
                  </a:lnTo>
                  <a:lnTo>
                    <a:pt x="900441" y="0"/>
                  </a:lnTo>
                  <a:lnTo>
                    <a:pt x="1015416" y="0"/>
                  </a:lnTo>
                  <a:lnTo>
                    <a:pt x="1072110" y="3809"/>
                  </a:lnTo>
                  <a:lnTo>
                    <a:pt x="1127902" y="8889"/>
                  </a:lnTo>
                  <a:lnTo>
                    <a:pt x="1182684" y="16509"/>
                  </a:lnTo>
                  <a:lnTo>
                    <a:pt x="1192355" y="19049"/>
                  </a:lnTo>
                  <a:lnTo>
                    <a:pt x="957929" y="19049"/>
                  </a:lnTo>
                  <a:lnTo>
                    <a:pt x="957929" y="38099"/>
                  </a:lnTo>
                  <a:lnTo>
                    <a:pt x="898867" y="38099"/>
                  </a:lnTo>
                  <a:lnTo>
                    <a:pt x="840907" y="41909"/>
                  </a:lnTo>
                  <a:lnTo>
                    <a:pt x="784147" y="48259"/>
                  </a:lnTo>
                  <a:lnTo>
                    <a:pt x="728686" y="55879"/>
                  </a:lnTo>
                  <a:lnTo>
                    <a:pt x="674624" y="66039"/>
                  </a:lnTo>
                  <a:lnTo>
                    <a:pt x="622060" y="77469"/>
                  </a:lnTo>
                  <a:lnTo>
                    <a:pt x="571092" y="91439"/>
                  </a:lnTo>
                  <a:lnTo>
                    <a:pt x="521821" y="107949"/>
                  </a:lnTo>
                  <a:lnTo>
                    <a:pt x="474346" y="125729"/>
                  </a:lnTo>
                  <a:lnTo>
                    <a:pt x="428765" y="144779"/>
                  </a:lnTo>
                  <a:lnTo>
                    <a:pt x="385178" y="165099"/>
                  </a:lnTo>
                  <a:lnTo>
                    <a:pt x="343684" y="187959"/>
                  </a:lnTo>
                  <a:lnTo>
                    <a:pt x="304383" y="212089"/>
                  </a:lnTo>
                  <a:lnTo>
                    <a:pt x="267373" y="237489"/>
                  </a:lnTo>
                  <a:lnTo>
                    <a:pt x="232753" y="264159"/>
                  </a:lnTo>
                  <a:lnTo>
                    <a:pt x="200624" y="292099"/>
                  </a:lnTo>
                  <a:lnTo>
                    <a:pt x="171084" y="321309"/>
                  </a:lnTo>
                  <a:lnTo>
                    <a:pt x="144232" y="351789"/>
                  </a:lnTo>
                  <a:lnTo>
                    <a:pt x="120167" y="382269"/>
                  </a:lnTo>
                  <a:lnTo>
                    <a:pt x="98989" y="415289"/>
                  </a:lnTo>
                  <a:lnTo>
                    <a:pt x="65691" y="481329"/>
                  </a:lnTo>
                  <a:lnTo>
                    <a:pt x="45130" y="551179"/>
                  </a:lnTo>
                  <a:lnTo>
                    <a:pt x="39029" y="604519"/>
                  </a:lnTo>
                  <a:lnTo>
                    <a:pt x="19049" y="604519"/>
                  </a:lnTo>
                  <a:lnTo>
                    <a:pt x="11653" y="605789"/>
                  </a:lnTo>
                  <a:lnTo>
                    <a:pt x="5595" y="610869"/>
                  </a:lnTo>
                  <a:lnTo>
                    <a:pt x="1503" y="615949"/>
                  </a:lnTo>
                  <a:lnTo>
                    <a:pt x="0" y="623569"/>
                  </a:lnTo>
                  <a:close/>
                </a:path>
                <a:path w="1916430" h="1248410">
                  <a:moveTo>
                    <a:pt x="1288788" y="1210309"/>
                  </a:moveTo>
                  <a:lnTo>
                    <a:pt x="957929" y="1210309"/>
                  </a:lnTo>
                  <a:lnTo>
                    <a:pt x="1016990" y="1209039"/>
                  </a:lnTo>
                  <a:lnTo>
                    <a:pt x="1074951" y="1205229"/>
                  </a:lnTo>
                  <a:lnTo>
                    <a:pt x="1131711" y="1200149"/>
                  </a:lnTo>
                  <a:lnTo>
                    <a:pt x="1187172" y="1192529"/>
                  </a:lnTo>
                  <a:lnTo>
                    <a:pt x="1241234" y="1182369"/>
                  </a:lnTo>
                  <a:lnTo>
                    <a:pt x="1293798" y="1169669"/>
                  </a:lnTo>
                  <a:lnTo>
                    <a:pt x="1344765" y="1155699"/>
                  </a:lnTo>
                  <a:lnTo>
                    <a:pt x="1394036" y="1140459"/>
                  </a:lnTo>
                  <a:lnTo>
                    <a:pt x="1441511" y="1122679"/>
                  </a:lnTo>
                  <a:lnTo>
                    <a:pt x="1487092" y="1103629"/>
                  </a:lnTo>
                  <a:lnTo>
                    <a:pt x="1530679" y="1082039"/>
                  </a:lnTo>
                  <a:lnTo>
                    <a:pt x="1572173" y="1060449"/>
                  </a:lnTo>
                  <a:lnTo>
                    <a:pt x="1611475" y="1036319"/>
                  </a:lnTo>
                  <a:lnTo>
                    <a:pt x="1648485" y="1010919"/>
                  </a:lnTo>
                  <a:lnTo>
                    <a:pt x="1683104" y="984249"/>
                  </a:lnTo>
                  <a:lnTo>
                    <a:pt x="1715233" y="956309"/>
                  </a:lnTo>
                  <a:lnTo>
                    <a:pt x="1744774" y="927099"/>
                  </a:lnTo>
                  <a:lnTo>
                    <a:pt x="1771626" y="896619"/>
                  </a:lnTo>
                  <a:lnTo>
                    <a:pt x="1795690" y="864869"/>
                  </a:lnTo>
                  <a:lnTo>
                    <a:pt x="1816868" y="833119"/>
                  </a:lnTo>
                  <a:lnTo>
                    <a:pt x="1850167" y="765809"/>
                  </a:lnTo>
                  <a:lnTo>
                    <a:pt x="1870728" y="695959"/>
                  </a:lnTo>
                  <a:lnTo>
                    <a:pt x="1877758" y="623569"/>
                  </a:lnTo>
                  <a:lnTo>
                    <a:pt x="1875984" y="588009"/>
                  </a:lnTo>
                  <a:lnTo>
                    <a:pt x="1862092" y="516889"/>
                  </a:lnTo>
                  <a:lnTo>
                    <a:pt x="1835068" y="448309"/>
                  </a:lnTo>
                  <a:lnTo>
                    <a:pt x="1795705" y="382269"/>
                  </a:lnTo>
                  <a:lnTo>
                    <a:pt x="1771645" y="351789"/>
                  </a:lnTo>
                  <a:lnTo>
                    <a:pt x="1744796" y="321309"/>
                  </a:lnTo>
                  <a:lnTo>
                    <a:pt x="1715259" y="292099"/>
                  </a:lnTo>
                  <a:lnTo>
                    <a:pt x="1683134" y="264159"/>
                  </a:lnTo>
                  <a:lnTo>
                    <a:pt x="1648517" y="237489"/>
                  </a:lnTo>
                  <a:lnTo>
                    <a:pt x="1611510" y="212089"/>
                  </a:lnTo>
                  <a:lnTo>
                    <a:pt x="1572211" y="187959"/>
                  </a:lnTo>
                  <a:lnTo>
                    <a:pt x="1530719" y="165099"/>
                  </a:lnTo>
                  <a:lnTo>
                    <a:pt x="1487134" y="144779"/>
                  </a:lnTo>
                  <a:lnTo>
                    <a:pt x="1441554" y="125729"/>
                  </a:lnTo>
                  <a:lnTo>
                    <a:pt x="1394078" y="107949"/>
                  </a:lnTo>
                  <a:lnTo>
                    <a:pt x="1344806" y="91439"/>
                  </a:lnTo>
                  <a:lnTo>
                    <a:pt x="1293837" y="77469"/>
                  </a:lnTo>
                  <a:lnTo>
                    <a:pt x="1241269" y="66039"/>
                  </a:lnTo>
                  <a:lnTo>
                    <a:pt x="1187203" y="55879"/>
                  </a:lnTo>
                  <a:lnTo>
                    <a:pt x="1131737" y="48259"/>
                  </a:lnTo>
                  <a:lnTo>
                    <a:pt x="1074969" y="41909"/>
                  </a:lnTo>
                  <a:lnTo>
                    <a:pt x="1017000" y="38099"/>
                  </a:lnTo>
                  <a:lnTo>
                    <a:pt x="957929" y="38099"/>
                  </a:lnTo>
                  <a:lnTo>
                    <a:pt x="957929" y="19049"/>
                  </a:lnTo>
                  <a:lnTo>
                    <a:pt x="1192355" y="19049"/>
                  </a:lnTo>
                  <a:lnTo>
                    <a:pt x="1236349" y="26669"/>
                  </a:lnTo>
                  <a:lnTo>
                    <a:pt x="1288788" y="38099"/>
                  </a:lnTo>
                  <a:lnTo>
                    <a:pt x="1339894" y="50799"/>
                  </a:lnTo>
                  <a:lnTo>
                    <a:pt x="1389559" y="66039"/>
                  </a:lnTo>
                  <a:lnTo>
                    <a:pt x="1437675" y="82549"/>
                  </a:lnTo>
                  <a:lnTo>
                    <a:pt x="1484133" y="101599"/>
                  </a:lnTo>
                  <a:lnTo>
                    <a:pt x="1528827" y="121919"/>
                  </a:lnTo>
                  <a:lnTo>
                    <a:pt x="1571648" y="143509"/>
                  </a:lnTo>
                  <a:lnTo>
                    <a:pt x="1612488" y="167639"/>
                  </a:lnTo>
                  <a:lnTo>
                    <a:pt x="1651240" y="193039"/>
                  </a:lnTo>
                  <a:lnTo>
                    <a:pt x="1687795" y="218439"/>
                  </a:lnTo>
                  <a:lnTo>
                    <a:pt x="1722046" y="246379"/>
                  </a:lnTo>
                  <a:lnTo>
                    <a:pt x="1753885" y="275589"/>
                  </a:lnTo>
                  <a:lnTo>
                    <a:pt x="1783203" y="306069"/>
                  </a:lnTo>
                  <a:lnTo>
                    <a:pt x="1809893" y="336549"/>
                  </a:lnTo>
                  <a:lnTo>
                    <a:pt x="1833848" y="369569"/>
                  </a:lnTo>
                  <a:lnTo>
                    <a:pt x="1854958" y="403859"/>
                  </a:lnTo>
                  <a:lnTo>
                    <a:pt x="1873117" y="438149"/>
                  </a:lnTo>
                  <a:lnTo>
                    <a:pt x="1888216" y="473709"/>
                  </a:lnTo>
                  <a:lnTo>
                    <a:pt x="1908804" y="547369"/>
                  </a:lnTo>
                  <a:lnTo>
                    <a:pt x="1914076" y="585469"/>
                  </a:lnTo>
                  <a:lnTo>
                    <a:pt x="1915858" y="623569"/>
                  </a:lnTo>
                  <a:lnTo>
                    <a:pt x="1914191" y="660399"/>
                  </a:lnTo>
                  <a:lnTo>
                    <a:pt x="1908804" y="701039"/>
                  </a:lnTo>
                  <a:lnTo>
                    <a:pt x="1888216" y="774699"/>
                  </a:lnTo>
                  <a:lnTo>
                    <a:pt x="1873117" y="810259"/>
                  </a:lnTo>
                  <a:lnTo>
                    <a:pt x="1854958" y="844549"/>
                  </a:lnTo>
                  <a:lnTo>
                    <a:pt x="1833848" y="877569"/>
                  </a:lnTo>
                  <a:lnTo>
                    <a:pt x="1809893" y="910589"/>
                  </a:lnTo>
                  <a:lnTo>
                    <a:pt x="1783203" y="942339"/>
                  </a:lnTo>
                  <a:lnTo>
                    <a:pt x="1753885" y="972819"/>
                  </a:lnTo>
                  <a:lnTo>
                    <a:pt x="1722046" y="1000759"/>
                  </a:lnTo>
                  <a:lnTo>
                    <a:pt x="1687795" y="1028699"/>
                  </a:lnTo>
                  <a:lnTo>
                    <a:pt x="1651240" y="1055369"/>
                  </a:lnTo>
                  <a:lnTo>
                    <a:pt x="1612488" y="1080769"/>
                  </a:lnTo>
                  <a:lnTo>
                    <a:pt x="1571648" y="1103629"/>
                  </a:lnTo>
                  <a:lnTo>
                    <a:pt x="1528827" y="1125219"/>
                  </a:lnTo>
                  <a:lnTo>
                    <a:pt x="1484133" y="1145539"/>
                  </a:lnTo>
                  <a:lnTo>
                    <a:pt x="1437675" y="1164589"/>
                  </a:lnTo>
                  <a:lnTo>
                    <a:pt x="1389559" y="1181099"/>
                  </a:lnTo>
                  <a:lnTo>
                    <a:pt x="1339894" y="1196339"/>
                  </a:lnTo>
                  <a:lnTo>
                    <a:pt x="1288788" y="1210309"/>
                  </a:lnTo>
                  <a:close/>
                </a:path>
                <a:path w="1916430" h="1248410">
                  <a:moveTo>
                    <a:pt x="19049" y="642619"/>
                  </a:moveTo>
                  <a:lnTo>
                    <a:pt x="11653" y="641349"/>
                  </a:lnTo>
                  <a:lnTo>
                    <a:pt x="5595" y="637539"/>
                  </a:lnTo>
                  <a:lnTo>
                    <a:pt x="1503" y="631189"/>
                  </a:lnTo>
                  <a:lnTo>
                    <a:pt x="0" y="623569"/>
                  </a:lnTo>
                  <a:lnTo>
                    <a:pt x="1503" y="615949"/>
                  </a:lnTo>
                  <a:lnTo>
                    <a:pt x="5595" y="610869"/>
                  </a:lnTo>
                  <a:lnTo>
                    <a:pt x="11653" y="605789"/>
                  </a:lnTo>
                  <a:lnTo>
                    <a:pt x="19049" y="604519"/>
                  </a:lnTo>
                  <a:lnTo>
                    <a:pt x="26446" y="605789"/>
                  </a:lnTo>
                  <a:lnTo>
                    <a:pt x="32504" y="610869"/>
                  </a:lnTo>
                  <a:lnTo>
                    <a:pt x="36596" y="615949"/>
                  </a:lnTo>
                  <a:lnTo>
                    <a:pt x="38100" y="623569"/>
                  </a:lnTo>
                  <a:lnTo>
                    <a:pt x="36596" y="631189"/>
                  </a:lnTo>
                  <a:lnTo>
                    <a:pt x="32504" y="637539"/>
                  </a:lnTo>
                  <a:lnTo>
                    <a:pt x="26446" y="641349"/>
                  </a:lnTo>
                  <a:lnTo>
                    <a:pt x="19049" y="642619"/>
                  </a:lnTo>
                  <a:close/>
                </a:path>
                <a:path w="1916430" h="1248410">
                  <a:moveTo>
                    <a:pt x="38100" y="623569"/>
                  </a:moveTo>
                  <a:lnTo>
                    <a:pt x="36596" y="615949"/>
                  </a:lnTo>
                  <a:lnTo>
                    <a:pt x="32504" y="610869"/>
                  </a:lnTo>
                  <a:lnTo>
                    <a:pt x="26446" y="605789"/>
                  </a:lnTo>
                  <a:lnTo>
                    <a:pt x="19049" y="604519"/>
                  </a:lnTo>
                  <a:lnTo>
                    <a:pt x="39029" y="604519"/>
                  </a:lnTo>
                  <a:lnTo>
                    <a:pt x="38100" y="62356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00441" y="1247139"/>
                  </a:lnTo>
                  <a:lnTo>
                    <a:pt x="843748" y="1244599"/>
                  </a:lnTo>
                  <a:lnTo>
                    <a:pt x="787956" y="1238249"/>
                  </a:lnTo>
                  <a:lnTo>
                    <a:pt x="733173" y="1230629"/>
                  </a:lnTo>
                  <a:lnTo>
                    <a:pt x="679509" y="1221739"/>
                  </a:lnTo>
                  <a:lnTo>
                    <a:pt x="627069" y="1210309"/>
                  </a:lnTo>
                  <a:lnTo>
                    <a:pt x="575963" y="1196339"/>
                  </a:lnTo>
                  <a:lnTo>
                    <a:pt x="526298" y="1181099"/>
                  </a:lnTo>
                  <a:lnTo>
                    <a:pt x="478183" y="1164589"/>
                  </a:lnTo>
                  <a:lnTo>
                    <a:pt x="431724" y="1145539"/>
                  </a:lnTo>
                  <a:lnTo>
                    <a:pt x="387030" y="1125219"/>
                  </a:lnTo>
                  <a:lnTo>
                    <a:pt x="344209" y="1103629"/>
                  </a:lnTo>
                  <a:lnTo>
                    <a:pt x="303369" y="1080769"/>
                  </a:lnTo>
                  <a:lnTo>
                    <a:pt x="264617" y="1055369"/>
                  </a:lnTo>
                  <a:lnTo>
                    <a:pt x="228062" y="1028699"/>
                  </a:lnTo>
                  <a:lnTo>
                    <a:pt x="193811" y="1000759"/>
                  </a:lnTo>
                  <a:lnTo>
                    <a:pt x="161973" y="972819"/>
                  </a:lnTo>
                  <a:lnTo>
                    <a:pt x="132655" y="942339"/>
                  </a:lnTo>
                  <a:lnTo>
                    <a:pt x="105964" y="910589"/>
                  </a:lnTo>
                  <a:lnTo>
                    <a:pt x="82010" y="877569"/>
                  </a:lnTo>
                  <a:lnTo>
                    <a:pt x="60899" y="844549"/>
                  </a:lnTo>
                  <a:lnTo>
                    <a:pt x="42741" y="810259"/>
                  </a:lnTo>
                  <a:lnTo>
                    <a:pt x="27642" y="774699"/>
                  </a:lnTo>
                  <a:lnTo>
                    <a:pt x="15710" y="737869"/>
                  </a:lnTo>
                  <a:lnTo>
                    <a:pt x="1781" y="662939"/>
                  </a:lnTo>
                  <a:lnTo>
                    <a:pt x="0" y="623569"/>
                  </a:lnTo>
                  <a:lnTo>
                    <a:pt x="1503" y="631189"/>
                  </a:lnTo>
                  <a:lnTo>
                    <a:pt x="5595" y="637539"/>
                  </a:lnTo>
                  <a:lnTo>
                    <a:pt x="11653" y="641349"/>
                  </a:lnTo>
                  <a:lnTo>
                    <a:pt x="19049" y="642619"/>
                  </a:lnTo>
                  <a:lnTo>
                    <a:pt x="39029" y="642619"/>
                  </a:lnTo>
                  <a:lnTo>
                    <a:pt x="39874" y="660399"/>
                  </a:lnTo>
                  <a:lnTo>
                    <a:pt x="53768" y="731519"/>
                  </a:lnTo>
                  <a:lnTo>
                    <a:pt x="80797" y="800099"/>
                  </a:lnTo>
                  <a:lnTo>
                    <a:pt x="120167" y="864869"/>
                  </a:lnTo>
                  <a:lnTo>
                    <a:pt x="144232" y="896619"/>
                  </a:lnTo>
                  <a:lnTo>
                    <a:pt x="171084" y="927099"/>
                  </a:lnTo>
                  <a:lnTo>
                    <a:pt x="200624" y="956309"/>
                  </a:lnTo>
                  <a:lnTo>
                    <a:pt x="232753" y="984249"/>
                  </a:lnTo>
                  <a:lnTo>
                    <a:pt x="267373" y="1010919"/>
                  </a:lnTo>
                  <a:lnTo>
                    <a:pt x="304383" y="1036319"/>
                  </a:lnTo>
                  <a:lnTo>
                    <a:pt x="343684" y="1060449"/>
                  </a:lnTo>
                  <a:lnTo>
                    <a:pt x="385178" y="1082039"/>
                  </a:lnTo>
                  <a:lnTo>
                    <a:pt x="428765" y="1103629"/>
                  </a:lnTo>
                  <a:lnTo>
                    <a:pt x="474346" y="1122679"/>
                  </a:lnTo>
                  <a:lnTo>
                    <a:pt x="521821" y="1140459"/>
                  </a:lnTo>
                  <a:lnTo>
                    <a:pt x="571092" y="1155699"/>
                  </a:lnTo>
                  <a:lnTo>
                    <a:pt x="622060" y="1169669"/>
                  </a:lnTo>
                  <a:lnTo>
                    <a:pt x="674624" y="1182369"/>
                  </a:lnTo>
                  <a:lnTo>
                    <a:pt x="728686" y="1192529"/>
                  </a:lnTo>
                  <a:lnTo>
                    <a:pt x="784147" y="1200149"/>
                  </a:lnTo>
                  <a:lnTo>
                    <a:pt x="840907" y="1205229"/>
                  </a:lnTo>
                  <a:lnTo>
                    <a:pt x="898867" y="1209039"/>
                  </a:lnTo>
                  <a:lnTo>
                    <a:pt x="957929" y="1210309"/>
                  </a:lnTo>
                  <a:lnTo>
                    <a:pt x="1287881" y="1210309"/>
                  </a:lnTo>
                  <a:lnTo>
                    <a:pt x="1236349" y="1221739"/>
                  </a:lnTo>
                  <a:lnTo>
                    <a:pt x="1192355" y="1229359"/>
                  </a:lnTo>
                  <a:lnTo>
                    <a:pt x="957929" y="1229359"/>
                  </a:lnTo>
                  <a:lnTo>
                    <a:pt x="957929" y="1248409"/>
                  </a:lnTo>
                  <a:close/>
                </a:path>
                <a:path w="1916430" h="1248410">
                  <a:moveTo>
                    <a:pt x="39029" y="642619"/>
                  </a:moveTo>
                  <a:lnTo>
                    <a:pt x="19049" y="642619"/>
                  </a:lnTo>
                  <a:lnTo>
                    <a:pt x="26446" y="641349"/>
                  </a:lnTo>
                  <a:lnTo>
                    <a:pt x="32504" y="637539"/>
                  </a:lnTo>
                  <a:lnTo>
                    <a:pt x="36596" y="631189"/>
                  </a:lnTo>
                  <a:lnTo>
                    <a:pt x="38100" y="623569"/>
                  </a:lnTo>
                  <a:lnTo>
                    <a:pt x="38967" y="641349"/>
                  </a:lnTo>
                  <a:lnTo>
                    <a:pt x="39029" y="642619"/>
                  </a:lnTo>
                  <a:close/>
                </a:path>
                <a:path w="1916430" h="1248410">
                  <a:moveTo>
                    <a:pt x="957929" y="1248409"/>
                  </a:moveTo>
                  <a:lnTo>
                    <a:pt x="957929" y="1229359"/>
                  </a:lnTo>
                  <a:lnTo>
                    <a:pt x="1192355" y="1229359"/>
                  </a:lnTo>
                  <a:lnTo>
                    <a:pt x="1127902" y="1238249"/>
                  </a:lnTo>
                  <a:lnTo>
                    <a:pt x="1072110" y="1244599"/>
                  </a:lnTo>
                  <a:lnTo>
                    <a:pt x="1015416" y="1247139"/>
                  </a:lnTo>
                  <a:lnTo>
                    <a:pt x="957929" y="1248409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0227" y="508544"/>
            <a:ext cx="1526540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dirty="0" sz="2700" spc="-20">
                <a:latin typeface="Calibri"/>
                <a:cs typeface="Calibri"/>
              </a:rPr>
              <a:t>Your</a:t>
            </a: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25">
                <a:latin typeface="Calibri"/>
                <a:cs typeface="Calibri"/>
              </a:rPr>
              <a:t>am</a:t>
            </a:r>
            <a:endParaRPr sz="27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dirty="0" sz="2700" spc="-1250" b="1">
                <a:latin typeface="Calibri"/>
                <a:cs typeface="Calibri"/>
              </a:rPr>
              <a:t>N</a:t>
            </a:r>
            <a:r>
              <a:rPr dirty="0" baseline="2057" sz="4050" spc="-780">
                <a:latin typeface="Calibri"/>
                <a:cs typeface="Calibri"/>
              </a:rPr>
              <a:t>N</a:t>
            </a:r>
            <a:r>
              <a:rPr dirty="0" sz="2700" spc="-825" b="1">
                <a:latin typeface="Calibri"/>
                <a:cs typeface="Calibri"/>
              </a:rPr>
              <a:t>E</a:t>
            </a:r>
            <a:r>
              <a:rPr dirty="0" baseline="2057" sz="4050" spc="-742">
                <a:latin typeface="Calibri"/>
                <a:cs typeface="Calibri"/>
              </a:rPr>
              <a:t>a</a:t>
            </a:r>
            <a:r>
              <a:rPr dirty="0" sz="2700" spc="-1030" b="1">
                <a:latin typeface="Calibri"/>
                <a:cs typeface="Calibri"/>
              </a:rPr>
              <a:t>X</a:t>
            </a:r>
            <a:r>
              <a:rPr dirty="0" baseline="2057" sz="4050" spc="-1770">
                <a:latin typeface="Calibri"/>
                <a:cs typeface="Calibri"/>
              </a:rPr>
              <a:t>m</a:t>
            </a:r>
            <a:r>
              <a:rPr dirty="0" sz="2700" spc="-620" b="1">
                <a:latin typeface="Calibri"/>
                <a:cs typeface="Calibri"/>
              </a:rPr>
              <a:t>U</a:t>
            </a:r>
            <a:r>
              <a:rPr dirty="0" baseline="2057" sz="4050" spc="-1117">
                <a:latin typeface="Calibri"/>
                <a:cs typeface="Calibri"/>
              </a:rPr>
              <a:t>e</a:t>
            </a:r>
            <a:r>
              <a:rPr dirty="0" sz="2700" spc="-10" b="1">
                <a:latin typeface="Calibri"/>
                <a:cs typeface="Calibri"/>
              </a:rPr>
              <a:t>S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948" y="475703"/>
            <a:ext cx="723899" cy="5905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34229" y="6182055"/>
            <a:ext cx="3785870" cy="30416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3050">
                <a:solidFill>
                  <a:srgbClr val="006FBF"/>
                </a:solidFill>
                <a:latin typeface="Trebuchet MS"/>
                <a:cs typeface="Trebuchet MS"/>
              </a:rPr>
              <a:t>From</a:t>
            </a:r>
            <a:r>
              <a:rPr dirty="0" sz="3050" spc="495">
                <a:solidFill>
                  <a:srgbClr val="006FBF"/>
                </a:solidFill>
                <a:latin typeface="Trebuchet MS"/>
                <a:cs typeface="Trebuchet MS"/>
              </a:rPr>
              <a:t> </a:t>
            </a:r>
            <a:r>
              <a:rPr dirty="0" sz="3050">
                <a:solidFill>
                  <a:srgbClr val="006FBF"/>
                </a:solidFill>
                <a:latin typeface="Trebuchet MS"/>
                <a:cs typeface="Trebuchet MS"/>
              </a:rPr>
              <a:t>Team</a:t>
            </a:r>
            <a:r>
              <a:rPr dirty="0" sz="3050" spc="509">
                <a:solidFill>
                  <a:srgbClr val="006FBF"/>
                </a:solidFill>
                <a:latin typeface="Trebuchet MS"/>
                <a:cs typeface="Trebuchet MS"/>
              </a:rPr>
              <a:t> </a:t>
            </a:r>
            <a:r>
              <a:rPr dirty="0" sz="3050" spc="225">
                <a:solidFill>
                  <a:srgbClr val="006FBF"/>
                </a:solidFill>
                <a:latin typeface="Trebuchet MS"/>
                <a:cs typeface="Trebuchet MS"/>
              </a:rPr>
              <a:t>NEXUS</a:t>
            </a:r>
            <a:endParaRPr sz="3050">
              <a:latin typeface="Trebuchet MS"/>
              <a:cs typeface="Trebuchet MS"/>
            </a:endParaRPr>
          </a:p>
          <a:p>
            <a:pPr algn="ctr" marL="12065" marR="5080">
              <a:lnSpc>
                <a:spcPts val="8770"/>
              </a:lnSpc>
              <a:spcBef>
                <a:spcPts val="2270"/>
              </a:spcBef>
            </a:pPr>
            <a:r>
              <a:rPr dirty="0" sz="8400" spc="-85">
                <a:latin typeface="Georgia"/>
                <a:cs typeface="Georgia"/>
              </a:rPr>
              <a:t>THANK </a:t>
            </a:r>
            <a:r>
              <a:rPr dirty="0" sz="8400" spc="-20">
                <a:latin typeface="Georgia"/>
                <a:cs typeface="Georgia"/>
              </a:rPr>
              <a:t>YOU!</a:t>
            </a:r>
            <a:endParaRPr sz="84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6312" y="4493287"/>
            <a:ext cx="371475" cy="28575"/>
          </a:xfrm>
          <a:custGeom>
            <a:avLst/>
            <a:gdLst/>
            <a:ahLst/>
            <a:cxnLst/>
            <a:rect l="l" t="t" r="r" b="b"/>
            <a:pathLst>
              <a:path w="371475" h="28575">
                <a:moveTo>
                  <a:pt x="370870" y="28574"/>
                </a:moveTo>
                <a:lnTo>
                  <a:pt x="0" y="28574"/>
                </a:lnTo>
                <a:lnTo>
                  <a:pt x="0" y="0"/>
                </a:lnTo>
                <a:lnTo>
                  <a:pt x="370870" y="0"/>
                </a:lnTo>
                <a:lnTo>
                  <a:pt x="370870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79949" y="4493287"/>
            <a:ext cx="2042160" cy="28575"/>
          </a:xfrm>
          <a:custGeom>
            <a:avLst/>
            <a:gdLst/>
            <a:ahLst/>
            <a:cxnLst/>
            <a:rect l="l" t="t" r="r" b="b"/>
            <a:pathLst>
              <a:path w="2042160" h="28575">
                <a:moveTo>
                  <a:pt x="2041542" y="28574"/>
                </a:moveTo>
                <a:lnTo>
                  <a:pt x="0" y="28574"/>
                </a:lnTo>
                <a:lnTo>
                  <a:pt x="0" y="0"/>
                </a:lnTo>
                <a:lnTo>
                  <a:pt x="2041542" y="0"/>
                </a:lnTo>
                <a:lnTo>
                  <a:pt x="2041542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99602" y="1977377"/>
            <a:ext cx="6779895" cy="257111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3700" spc="-10" b="1">
                <a:latin typeface="Calibri"/>
                <a:cs typeface="Calibri"/>
              </a:rPr>
              <a:t>Documentation</a:t>
            </a:r>
            <a:endParaRPr sz="3700">
              <a:latin typeface="Calibri"/>
              <a:cs typeface="Calibri"/>
            </a:endParaRPr>
          </a:p>
          <a:p>
            <a:pPr marL="29209">
              <a:lnSpc>
                <a:spcPct val="100000"/>
              </a:lnSpc>
              <a:spcBef>
                <a:spcPts val="459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MDoNER</a:t>
            </a:r>
            <a:r>
              <a:rPr dirty="0" u="sng" sz="2400" spc="-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–</a:t>
            </a:r>
            <a:r>
              <a:rPr dirty="0" u="sng" sz="2400" spc="-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Guidelines</a:t>
            </a:r>
            <a:r>
              <a:rPr dirty="0" u="sng" sz="2400" spc="-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for</a:t>
            </a:r>
            <a:r>
              <a:rPr dirty="0" u="sng" sz="2400" spc="-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Preparation</a:t>
            </a:r>
            <a:r>
              <a:rPr dirty="0" u="sng" sz="2400" spc="-6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of</a:t>
            </a:r>
            <a:r>
              <a:rPr dirty="0" u="sng" sz="2400" spc="-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sng" sz="2400" spc="-2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4"/>
              </a:rPr>
              <a:t>DPRs</a:t>
            </a:r>
            <a:endParaRPr sz="2400">
              <a:latin typeface="Arial"/>
              <a:cs typeface="Arial"/>
            </a:endParaRPr>
          </a:p>
          <a:p>
            <a:pPr marL="12700" marR="410209">
              <a:lnSpc>
                <a:spcPts val="3900"/>
              </a:lnSpc>
              <a:spcBef>
                <a:spcPts val="150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Hu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5"/>
              </a:rPr>
              <a:t>gg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ing</a:t>
            </a:r>
            <a:r>
              <a:rPr dirty="0" u="sng" sz="2400" spc="-4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Face</a:t>
            </a:r>
            <a:r>
              <a:rPr dirty="0" u="sng" sz="2400" spc="-3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sng" sz="2400" spc="-2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Transformers</a:t>
            </a:r>
            <a:r>
              <a:rPr dirty="0" u="sng" sz="2400" spc="-3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5"/>
              </a:rPr>
              <a:t>Documentation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Hu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6"/>
              </a:rPr>
              <a:t>gg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ing</a:t>
            </a:r>
            <a:r>
              <a:rPr dirty="0" u="sng" sz="2400" spc="-3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Face</a:t>
            </a:r>
            <a:r>
              <a:rPr dirty="0" u="sng" sz="2400" spc="-2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6"/>
              </a:rPr>
              <a:t> PEFT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7"/>
              </a:rPr>
              <a:t>pdfplumber</a:t>
            </a:r>
            <a:r>
              <a:rPr dirty="0" sz="2400" spc="-170" b="1">
                <a:solidFill>
                  <a:srgbClr val="006FBF"/>
                </a:solidFill>
                <a:latin typeface="Arial"/>
                <a:cs typeface="Arial"/>
                <a:hlinkClick r:id="rId7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7"/>
              </a:rPr>
              <a:t>Library</a:t>
            </a:r>
            <a:r>
              <a:rPr dirty="0" u="sng" sz="2400" spc="1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dirty="0" u="sng" sz="2400" spc="-2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7"/>
              </a:rPr>
              <a:t>Docs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18924" y="5483887"/>
            <a:ext cx="1808480" cy="28575"/>
          </a:xfrm>
          <a:custGeom>
            <a:avLst/>
            <a:gdLst/>
            <a:ahLst/>
            <a:cxnLst/>
            <a:rect l="l" t="t" r="r" b="b"/>
            <a:pathLst>
              <a:path w="1808479" h="28575">
                <a:moveTo>
                  <a:pt x="1808415" y="28574"/>
                </a:moveTo>
                <a:lnTo>
                  <a:pt x="0" y="28574"/>
                </a:lnTo>
                <a:lnTo>
                  <a:pt x="0" y="0"/>
                </a:lnTo>
                <a:lnTo>
                  <a:pt x="1808415" y="0"/>
                </a:lnTo>
                <a:lnTo>
                  <a:pt x="1808415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5448" y="4522478"/>
            <a:ext cx="5911850" cy="101600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Llama</a:t>
            </a:r>
            <a:r>
              <a:rPr dirty="0" u="sng" sz="2400" spc="-7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8"/>
              </a:rPr>
              <a:t>documentation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vLLM:</a:t>
            </a:r>
            <a:r>
              <a:rPr dirty="0" u="sng" sz="2400" spc="-4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sng" sz="2400" spc="-10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Easy</a:t>
            </a:r>
            <a:r>
              <a:rPr dirty="0" u="sng" sz="2400" spc="-45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9"/>
              </a:rPr>
              <a:t>,</a:t>
            </a:r>
            <a:r>
              <a:rPr dirty="0" u="sng" sz="2400" spc="-1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fast</a:t>
            </a:r>
            <a:r>
              <a:rPr dirty="0" u="sng" sz="2400" spc="-3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and</a:t>
            </a:r>
            <a:r>
              <a:rPr dirty="0" u="sng" sz="2400" spc="-2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9"/>
              </a:rPr>
              <a:t>cheap</a:t>
            </a:r>
            <a:r>
              <a:rPr dirty="0" sz="2400" spc="-30" b="1">
                <a:solidFill>
                  <a:srgbClr val="006FBF"/>
                </a:solidFill>
                <a:latin typeface="Arial"/>
                <a:cs typeface="Arial"/>
                <a:hlinkClick r:id="rId9"/>
              </a:rPr>
              <a:t> 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9"/>
              </a:rPr>
              <a:t>LLM</a:t>
            </a:r>
            <a:r>
              <a:rPr dirty="0" sz="2400" spc="-30" b="1">
                <a:solidFill>
                  <a:srgbClr val="006FBF"/>
                </a:solidFill>
                <a:latin typeface="Arial"/>
                <a:cs typeface="Arial"/>
                <a:hlinkClick r:id="rId9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9"/>
              </a:rPr>
              <a:t>Serving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24201" y="5483887"/>
            <a:ext cx="85090" cy="28575"/>
          </a:xfrm>
          <a:custGeom>
            <a:avLst/>
            <a:gdLst/>
            <a:ahLst/>
            <a:cxnLst/>
            <a:rect l="l" t="t" r="r" b="b"/>
            <a:pathLst>
              <a:path w="85090" h="28575">
                <a:moveTo>
                  <a:pt x="84683" y="28574"/>
                </a:moveTo>
                <a:lnTo>
                  <a:pt x="0" y="28574"/>
                </a:lnTo>
                <a:lnTo>
                  <a:pt x="0" y="0"/>
                </a:lnTo>
                <a:lnTo>
                  <a:pt x="84683" y="0"/>
                </a:lnTo>
                <a:lnTo>
                  <a:pt x="84683" y="28574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72175" y="1769935"/>
            <a:ext cx="0" cy="4292600"/>
          </a:xfrm>
          <a:custGeom>
            <a:avLst/>
            <a:gdLst/>
            <a:ahLst/>
            <a:cxnLst/>
            <a:rect l="l" t="t" r="r" b="b"/>
            <a:pathLst>
              <a:path w="0" h="4292600">
                <a:moveTo>
                  <a:pt x="0" y="4292524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667552" y="1977377"/>
            <a:ext cx="6819265" cy="3237865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386080">
              <a:lnSpc>
                <a:spcPct val="100000"/>
              </a:lnSpc>
              <a:spcBef>
                <a:spcPts val="810"/>
              </a:spcBef>
            </a:pPr>
            <a:r>
              <a:rPr dirty="0" sz="3700" b="1">
                <a:latin typeface="Calibri"/>
                <a:cs typeface="Calibri"/>
              </a:rPr>
              <a:t>Research</a:t>
            </a:r>
            <a:r>
              <a:rPr dirty="0" sz="3700" spc="-75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Papers</a:t>
            </a:r>
            <a:r>
              <a:rPr dirty="0" sz="3700" spc="-75" b="1">
                <a:latin typeface="Calibri"/>
                <a:cs typeface="Calibri"/>
              </a:rPr>
              <a:t> </a:t>
            </a:r>
            <a:r>
              <a:rPr dirty="0" sz="3700" b="1">
                <a:latin typeface="Calibri"/>
                <a:cs typeface="Calibri"/>
              </a:rPr>
              <a:t>and</a:t>
            </a:r>
            <a:r>
              <a:rPr dirty="0" sz="3700" spc="-75" b="1">
                <a:latin typeface="Calibri"/>
                <a:cs typeface="Calibri"/>
              </a:rPr>
              <a:t> </a:t>
            </a:r>
            <a:r>
              <a:rPr dirty="0" sz="3700" spc="-10" b="1">
                <a:latin typeface="Calibri"/>
                <a:cs typeface="Calibri"/>
              </a:rPr>
              <a:t>Literature</a:t>
            </a:r>
            <a:endParaRPr sz="3700">
              <a:latin typeface="Calibri"/>
              <a:cs typeface="Calibri"/>
            </a:endParaRPr>
          </a:p>
          <a:p>
            <a:pPr algn="r" marR="78740">
              <a:lnSpc>
                <a:spcPts val="2865"/>
              </a:lnSpc>
              <a:spcBef>
                <a:spcPts val="459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Longformer:</a:t>
            </a:r>
            <a:r>
              <a:rPr dirty="0" u="sng" sz="2400" spc="-8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The</a:t>
            </a:r>
            <a:r>
              <a:rPr dirty="0" u="sng" sz="2400" spc="-8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Long-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Document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Transformer</a:t>
            </a:r>
            <a:endParaRPr sz="2400">
              <a:latin typeface="Arial"/>
              <a:cs typeface="Arial"/>
            </a:endParaRPr>
          </a:p>
          <a:p>
            <a:pPr algn="r" marR="5080">
              <a:lnSpc>
                <a:spcPts val="2865"/>
              </a:lnSpc>
            </a:pPr>
            <a:r>
              <a:rPr dirty="0" sz="2400" spc="-800" b="1">
                <a:solidFill>
                  <a:srgbClr val="006FBF"/>
                </a:solidFill>
                <a:latin typeface="Arial"/>
                <a:cs typeface="Arial"/>
              </a:rPr>
              <a:t>(</a:t>
            </a:r>
            <a:r>
              <a:rPr dirty="0" u="heavy" sz="2400" spc="195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heavy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Belta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gy</a:t>
            </a:r>
            <a:r>
              <a:rPr dirty="0" u="sng" sz="2400" spc="16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et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al.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,</a:t>
            </a:r>
            <a:r>
              <a:rPr dirty="0" u="sng" sz="2400" spc="-7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0"/>
              </a:rPr>
              <a:t>2020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10"/>
              </a:rPr>
              <a:t>)</a:t>
            </a:r>
            <a:r>
              <a:rPr dirty="0" u="heavy" sz="2400" spc="60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algn="r" marR="78740">
              <a:lnSpc>
                <a:spcPts val="2865"/>
              </a:lnSpc>
              <a:spcBef>
                <a:spcPts val="869"/>
              </a:spcBef>
            </a:pP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Explainable</a:t>
            </a:r>
            <a:r>
              <a:rPr dirty="0" u="sng" sz="2400" spc="-12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AI</a:t>
            </a:r>
            <a:r>
              <a:rPr dirty="0" u="sng" sz="2400" spc="-3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for</a:t>
            </a:r>
            <a:r>
              <a:rPr dirty="0" u="sng" sz="2400" spc="-3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Public</a:t>
            </a:r>
            <a:r>
              <a:rPr dirty="0" u="sng" sz="2400" spc="-3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Sector</a:t>
            </a:r>
            <a:r>
              <a:rPr dirty="0" u="sng" sz="2400" spc="-4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Decision-</a:t>
            </a:r>
            <a:endParaRPr sz="2400">
              <a:latin typeface="Arial"/>
              <a:cs typeface="Arial"/>
            </a:endParaRPr>
          </a:p>
          <a:p>
            <a:pPr algn="r" marR="5080">
              <a:lnSpc>
                <a:spcPts val="2865"/>
              </a:lnSpc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Making</a:t>
            </a:r>
            <a:r>
              <a:rPr dirty="0" u="sng" sz="2400" spc="-45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  <a:hlinkClick r:id="rId11"/>
              </a:rPr>
              <a:t> 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(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GovAI</a:t>
            </a:r>
            <a:r>
              <a:rPr dirty="0" u="sng" sz="2400" spc="-4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Report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,</a:t>
            </a:r>
            <a:r>
              <a:rPr dirty="0" u="sng" sz="2400" spc="-2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1"/>
              </a:rPr>
              <a:t>2023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11"/>
              </a:rPr>
              <a:t>)</a:t>
            </a:r>
            <a:r>
              <a:rPr dirty="0" u="heavy" sz="2400" spc="60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  <a:p>
            <a:pPr algn="r" marL="2312670" marR="5080" indent="-1793239">
              <a:lnSpc>
                <a:spcPts val="2850"/>
              </a:lnSpc>
              <a:spcBef>
                <a:spcPts val="1739"/>
              </a:spcBef>
            </a:pP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Automated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Risk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Detection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in</a:t>
            </a:r>
            <a:r>
              <a:rPr dirty="0" u="sng" sz="2400" spc="-8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Infrastructure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Pro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j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ect</a:t>
            </a:r>
            <a:r>
              <a:rPr dirty="0" u="sng" sz="2400" spc="-6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Proposals</a:t>
            </a:r>
            <a:r>
              <a:rPr dirty="0" u="sng" sz="2400" spc="-55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(</a:t>
            </a:r>
            <a:r>
              <a:rPr dirty="0" u="sng" sz="240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IEEE</a:t>
            </a:r>
            <a:r>
              <a:rPr dirty="0" sz="2400" b="1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,</a:t>
            </a:r>
            <a:r>
              <a:rPr dirty="0" u="sng" sz="2400" spc="-4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 </a:t>
            </a:r>
            <a:r>
              <a:rPr dirty="0" u="sng" sz="2400" spc="-10" b="1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"/>
                <a:cs typeface="Arial"/>
                <a:hlinkClick r:id="rId12"/>
              </a:rPr>
              <a:t>2022</a:t>
            </a:r>
            <a:r>
              <a:rPr dirty="0" sz="2400" spc="-10" b="1">
                <a:solidFill>
                  <a:srgbClr val="006FBF"/>
                </a:solidFill>
                <a:latin typeface="Arial"/>
                <a:cs typeface="Arial"/>
                <a:hlinkClick r:id="rId12"/>
              </a:rPr>
              <a:t>)</a:t>
            </a:r>
            <a:r>
              <a:rPr dirty="0" u="heavy" sz="2400" spc="60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/>
              <a:t>@SIH Idea submission- </a:t>
            </a:r>
            <a:r>
              <a:rPr dirty="0" spc="-10"/>
              <a:t>Template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FB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Aangir Doshi</dc:creator>
  <cp:keywords>DAG0V8Ez33E,BAGRyM164ZY</cp:keywords>
  <dc:title>SIH2025-IDEA-Presentation-Format.pptx</dc:title>
  <dcterms:created xsi:type="dcterms:W3CDTF">2026-09-14T11:42:29Z</dcterms:created>
  <dcterms:modified xsi:type="dcterms:W3CDTF">2026-09-14T11:42:29Z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2026-09-14T00:00:00Z</vt:filetime>
  </property>
  <property fmtid="{D5CDD505-2E9C-101B-9397-08002B2CF9AE}" pid="6" name="Producer">
    <vt:lpwstr>Canva</vt:lpwstr>
  </property>
</Properties>
</file>