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SIH2026006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Intelligent Freight Forecasting Model for Optimized Vessel Chartering &amp; Bulk Cargo Procurement, East Coast of India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Transportation &amp; Logistics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[Insert Your Team ID]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[Insert Your Registered Team Name]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150000"/>
            <a:ext cx="11826000" cy="51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0" indent="0" algn="just">
              <a:buNone/>
              <a:spcBef>
                <a:spcPts val="400"/>
              </a:spcBef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CargoSense — an AI copilot that tells India’s PSU steel plants when to charter which ship, at what price, and now speaks back in Hindi, Odia, Telugu or Bengali.</a:t>
            </a:r>
          </a:p>
          <a:p>
            <a:pPr marL="0" indent="0">
              <a:buNone/>
              <a:spcBef>
                <a:spcPts val="600"/>
              </a:spcBef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Detailed Explanation of the Solution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Forecasts freight rates weeks ahead with a clear best-case / likely / worst-case range, using AI models (Prophet + XGBoost) trained on Baltic freight indices, weather and fuel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Jointly recommends vessel size, chartering timing and cargo quantity as one decision, checked against real port depth limits at all 7 named East Coast ports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Idle-Ship Advisor: once a ship is empty, suggests backhaul cargo or repositioning instead of wasting fuel waiting or sailing back empty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Vernacular Voice Copilot (Sarvam AI): an officer can ask a question by voice in a regional Indian language and get a spoken answer back</a:t>
            </a:r>
          </a:p>
          <a:p>
            <a:pPr marL="0" indent="0">
              <a:buNone/>
              <a:spcBef>
                <a:spcPts val="600"/>
              </a:spcBef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Replaces broker-quote guesswork and disconnected spreadsheets with one explainable, auditable decision engine covering forecasting, chartering, procurement and risk together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Directly answers all 4 asks of the problem statement: rate forecasting, chartering optimization, idle-time reduction and risk mitigation</a:t>
            </a:r>
          </a:p>
          <a:p>
            <a:pPr marL="0" indent="0">
              <a:buNone/>
              <a:spcBef>
                <a:spcPts val="600"/>
              </a:spcBef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Innovation and Uniqueness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Only known tool combining freight forecasting + procurement optimization + cross-PSU cargo pooling + an idle-vessel advisor in one system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India's first vernacular voice AI for ship chartering, built on Sarvam AI, so language is never a barrier to using it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Backed by a real backtest on 2 years of market data: ~4.7% freight-cost saving, with risk flagged 9 days ahead of the 2023 Red Sea disruption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00000"/>
            <a:ext cx="11826000" cy="2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Technologies Used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AI/Machine Learning: Prophet + XGBoost for freight-rate forecasting, with plain-language, explainable reasoning (SHAP)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Optimization Engine: Google OR-Tools for jointly deciding vessel size, timing and cargo quantity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Vernacular Voice AI: Sarvam AI (speech-to-text, text-to-speech &amp; translation) for regional-language voice queries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Web Application: React dashboard, Python (FastAPI) backend, PostgreSQL database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100% open-source stack for the prototype — zero licensing cost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000" name="MethodologyHeader"/>
          <p:cNvSpPr txBox="1"/>
          <p:nvPr/>
        </p:nvSpPr>
        <p:spPr>
          <a:xfrm>
            <a:off x="182998" y="3080000"/>
            <a:ext cx="118260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Methodology &amp; Process for Implementation</a:t>
            </a:r>
          </a:p>
        </p:txBody>
      </p:sp>
      <p:sp>
        <p:nvSpPr>
          <p:cNvPr id="90001" name="Box1"/>
          <p:cNvSpPr/>
          <p:nvPr/>
        </p:nvSpPr>
        <p:spPr>
          <a:xfrm>
            <a:off x="54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rIns="91440" tIns="45720" bIns="4572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1. Data Ingestion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Baltic indices, AIS, weather, bunker fuel, port &amp; berth data</a:t>
            </a:r>
          </a:p>
        </p:txBody>
      </p:sp>
      <p:sp>
        <p:nvSpPr>
          <p:cNvPr id="90002" name="Arrow1"/>
          <p:cNvSpPr/>
          <p:nvPr/>
        </p:nvSpPr>
        <p:spPr>
          <a:xfrm>
            <a:off x="3096000" y="3950000"/>
            <a:ext cx="300000" cy="5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03" name="Box2"/>
          <p:cNvSpPr/>
          <p:nvPr/>
        </p:nvSpPr>
        <p:spPr>
          <a:xfrm>
            <a:off x="339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rIns="91440" tIns="45720" bIns="4572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2. AI Forecasting Engine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Prophet + XGBoost predict rate ranges (best/likely/worst case)</a:t>
            </a:r>
          </a:p>
        </p:txBody>
      </p:sp>
      <p:sp>
        <p:nvSpPr>
          <p:cNvPr id="90004" name="Arrow2"/>
          <p:cNvSpPr/>
          <p:nvPr/>
        </p:nvSpPr>
        <p:spPr>
          <a:xfrm>
            <a:off x="5946000" y="3950000"/>
            <a:ext cx="300000" cy="5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05" name="Box3"/>
          <p:cNvSpPr/>
          <p:nvPr/>
        </p:nvSpPr>
        <p:spPr>
          <a:xfrm>
            <a:off x="624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rIns="91440" tIns="45720" bIns="4572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3. Optimization Engine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Recommends ship size, timing, cargo qty &amp; idle-ship moves</a:t>
            </a:r>
          </a:p>
        </p:txBody>
      </p:sp>
      <p:sp>
        <p:nvSpPr>
          <p:cNvPr id="90006" name="Arrow3"/>
          <p:cNvSpPr/>
          <p:nvPr/>
        </p:nvSpPr>
        <p:spPr>
          <a:xfrm>
            <a:off x="8796000" y="3950000"/>
            <a:ext cx="300000" cy="500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07" name="Box4"/>
          <p:cNvSpPr/>
          <p:nvPr/>
        </p:nvSpPr>
        <p:spPr>
          <a:xfrm>
            <a:off x="9096000" y="3550000"/>
            <a:ext cx="2550000" cy="1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rIns="91440" tIns="45720" bIns="4572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4. Vernacular Voice Output</a:t>
            </a:r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Sarvam AI speaks the answer back in Hindi / Odia / Telugu / Bengali</a:t>
            </a:r>
          </a:p>
        </p:txBody>
      </p:sp>
      <p:sp>
        <p:nvSpPr>
          <p:cNvPr id="90008" name="Caption1"/>
          <p:cNvSpPr txBox="1"/>
          <p:nvPr/>
        </p:nvSpPr>
        <p:spPr>
          <a:xfrm>
            <a:off x="546000" y="5250000"/>
            <a:ext cx="11100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1200" i="1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Every recommendation is checked against a 2-year backtest on real Baltic freight-index data before it is shown on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00000"/>
            <a:ext cx="11826000" cy="51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  <a:spcBef>
                <a:spcPts val="400"/>
              </a:spcBef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Feasibility Analysis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Built on free, open-source components (Prophet, XGBoost, OR-Tools, PostgreSQL, React, FastAPI) — ₹0 licensing cost for the prototype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Hackathon demo runs entirely on public data (Baltic indices, published port drafts, IMD cyclone records) — no dependency on data we don't yet have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Mirrors pooled-chartering practice already used in the real world by Vale, BHP and Anglo American — not an unproven idea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Sarvam AI's voice/translation APIs are commercially available today — the vernacular copilot runs on real, working technology</a:t>
            </a:r>
          </a:p>
          <a:p>
            <a:pPr marL="0" indent="0">
              <a:buNone/>
              <a:spcBef>
                <a:spcPts val="400"/>
              </a:spcBef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Potential Challenges &amp; Risks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Forecasts can be wrong during sudden shocks (e.g. geopolitical events), risking a costly chartering call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Live port-congestion data isn't available yet for 6 of 7 ports — today's demo uses public-proxy data for those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Cross-PSU pooling needs a Ministry-level agreement on cost-sharing — a governance step, not a software one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Voice transcription/translation can occasionally misread a question or a field report</a:t>
            </a:r>
          </a:p>
          <a:p>
            <a:pPr marL="0" indent="0">
              <a:buNone/>
              <a:spcBef>
                <a:spcPts val="400"/>
              </a:spcBef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Every forecast is shown with a confidence range, not a single number, so officers can see and override risk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Confidence scores are logged on every AI/voice output; low-confidence items are flagged for human review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Phased rollout: hackathon prototype → pilot with one PSU (MoU) → full multi-plant scale-up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itchFamily="34" charset="0"/>
                <a:cs typeface="Arial" pitchFamily="34" charset="0"/>
              </a:rPr>
              <a:t>Final sign-off always stays with a human procurement officer — the tool recommends, it never decides alone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201" name="Chip1"/>
          <p:cNvSpPr/>
          <p:nvPr/>
        </p:nvSpPr>
        <p:spPr>
          <a:xfrm>
            <a:off x="182998" y="5450000"/>
            <a:ext cx="3742000" cy="7500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rIns="9144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₹0 Licensing Cost</a:t>
            </a:r>
          </a:p>
        </p:txBody>
      </p:sp>
      <p:sp>
        <p:nvSpPr>
          <p:cNvPr id="90202" name="Chip2"/>
          <p:cNvSpPr/>
          <p:nvPr/>
        </p:nvSpPr>
        <p:spPr>
          <a:xfrm>
            <a:off x="4224998" y="5450000"/>
            <a:ext cx="3742000" cy="7500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</p:spPr>
        <p:txBody>
          <a:bodyPr wrap="square" anchor="ctr" lIns="91440" rIns="9144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Real-World Precedent: Vale / BHP / Anglo American</a:t>
            </a:r>
          </a:p>
        </p:txBody>
      </p:sp>
      <p:sp>
        <p:nvSpPr>
          <p:cNvPr id="90203" name="Chip3"/>
          <p:cNvSpPr/>
          <p:nvPr/>
        </p:nvSpPr>
        <p:spPr>
          <a:xfrm>
            <a:off x="8266998" y="5450000"/>
            <a:ext cx="3742000" cy="7500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rIns="9144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Human-in-the-Loop by Design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100000"/>
            <a:ext cx="11826000" cy="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500" i="1" dirty="0">
                <a:latin typeface="Arial" pitchFamily="34" charset="0"/>
                <a:cs typeface="Arial" pitchFamily="34" charset="0"/>
              </a:rPr>
              <a:t>Impact is assessed across all four rubric categories below, backed by a real 2-year backtest — not a single generic claim.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101" name="SocialCard"/>
          <p:cNvSpPr/>
          <p:nvPr/>
        </p:nvSpPr>
        <p:spPr>
          <a:xfrm>
            <a:off x="400000" y="20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  <a:latin typeface="Arial" pitchFamily="34" charset="0"/>
                <a:cs typeface="Arial" pitchFamily="34" charset="0"/>
              </a:rPr>
              <a:t>Social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Supply security for steel production → protects downstream jobs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Vernacular voice AI (Sarvam) means language is never a barrier to using it</a:t>
            </a:r>
          </a:p>
        </p:txBody>
      </p:sp>
      <p:sp>
        <p:nvSpPr>
          <p:cNvPr id="90102" name="EconomicCard"/>
          <p:cNvSpPr/>
          <p:nvPr/>
        </p:nvSpPr>
        <p:spPr>
          <a:xfrm>
            <a:off x="6246000" y="20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Economic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Less demurrage from berth-aware chartering timing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Gives Ministry of Steel visibility to enable real cross-PSU pooling</a:t>
            </a:r>
          </a:p>
        </p:txBody>
      </p:sp>
      <p:sp>
        <p:nvSpPr>
          <p:cNvPr id="90103" name="EnvironmentalCard"/>
          <p:cNvSpPr/>
          <p:nvPr/>
        </p:nvSpPr>
        <p:spPr>
          <a:xfrm>
            <a:off x="400000" y="42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cs typeface="Arial" pitchFamily="34" charset="0"/>
              </a:rPr>
              <a:t>Environmental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Fewer empty (ballast) voyages via the Idle-Ship Advisor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Less fuel burnt idling at anchor during port congestion</a:t>
            </a:r>
          </a:p>
        </p:txBody>
      </p:sp>
      <p:sp>
        <p:nvSpPr>
          <p:cNvPr id="90104" name="FinancialCard"/>
          <p:cNvSpPr/>
          <p:nvPr/>
        </p:nvSpPr>
        <p:spPr>
          <a:xfrm>
            <a:off x="6246000" y="4250000"/>
            <a:ext cx="5546000" cy="20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64592" tIns="82296" rIns="164592" bIns="82296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cs typeface="Arial" pitchFamily="34" charset="0"/>
              </a:rPr>
              <a:t>Financial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Backtested: ≈4.7% (≈₹138/tonne) freight-cost saving vs. charter-immediately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At national import volumes, this scales to hundreds of crores/year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998" y="1200000"/>
            <a:ext cx="118260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Ministry of Steel: India's coking coal imports projected to reach ~160 million tonnes by 2030; SAIL alone imports 15+ million tonnes/year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Paradip Port Authority berthed its first Capesize vessel (MV Mineral Kwangyang, 180,513 DWT) on 6 Sept 2026, confirming East Coast port capability is evolving in real time (The Week, Sept 2026)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Su, Bae &amp; Park (2025), “Port congestion and container freight rate dynamics: forecasting with an RBF neural network,” Frontiers in Marine Science — peer-reviewed precedent for congestion-driven freight forecasting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Contract of Affreightment practice at Vale, BHP and Anglo American — real-world precedent for the cross-buyer pooled-chartering model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Sarvam AI (sarvam.ai) — India's sovereign speech, translation and LLM APIs (Saaras, Bulbul, Sarvam-Translate) powering the Vernacular AI Copilot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MSTC Limited — Government of India e-procurement platform the generated Tender Specification document is designed to feed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